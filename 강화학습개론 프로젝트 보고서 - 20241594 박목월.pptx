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5"/>
  </p:notesMasterIdLst>
  <p:handoutMasterIdLst>
    <p:handoutMasterId r:id="rId16"/>
  </p:handoutMasterIdLst>
  <p:sldIdLst>
    <p:sldId id="257" r:id="rId2"/>
    <p:sldId id="262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4" r:id="rId13"/>
    <p:sldId id="275" r:id="rId14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44529"/>
    <a:srgbClr val="2B3922"/>
    <a:srgbClr val="2E3722"/>
    <a:srgbClr val="FCF7F1"/>
    <a:srgbClr val="B8D233"/>
    <a:srgbClr val="5CC6D6"/>
    <a:srgbClr val="F8D22F"/>
    <a:srgbClr val="F03F2B"/>
    <a:srgbClr val="3488A0"/>
    <a:srgbClr val="5790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8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355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목월 박" userId="1300032c5d11fae3" providerId="LiveId" clId="{D9586270-C413-4493-9ACB-20421103D285}"/>
    <pc:docChg chg="undo custSel modSld">
      <pc:chgData name="목월 박" userId="1300032c5d11fae3" providerId="LiveId" clId="{D9586270-C413-4493-9ACB-20421103D285}" dt="2025-12-07T14:29:41.810" v="894" actId="20577"/>
      <pc:docMkLst>
        <pc:docMk/>
      </pc:docMkLst>
      <pc:sldChg chg="addSp delSp modSp mod">
        <pc:chgData name="목월 박" userId="1300032c5d11fae3" providerId="LiveId" clId="{D9586270-C413-4493-9ACB-20421103D285}" dt="2025-12-07T14:29:41.810" v="894" actId="20577"/>
        <pc:sldMkLst>
          <pc:docMk/>
          <pc:sldMk cId="2584280759" sldId="257"/>
        </pc:sldMkLst>
        <pc:spChg chg="add del mod">
          <ac:chgData name="목월 박" userId="1300032c5d11fae3" providerId="LiveId" clId="{D9586270-C413-4493-9ACB-20421103D285}" dt="2025-12-07T14:28:05.280" v="771"/>
          <ac:spMkLst>
            <pc:docMk/>
            <pc:sldMk cId="2584280759" sldId="257"/>
            <ac:spMk id="4" creationId="{4D6E9083-858D-6178-E505-002DD0A59444}"/>
          </ac:spMkLst>
        </pc:spChg>
        <pc:spChg chg="add mod">
          <ac:chgData name="목월 박" userId="1300032c5d11fae3" providerId="LiveId" clId="{D9586270-C413-4493-9ACB-20421103D285}" dt="2025-12-07T14:29:41.810" v="894" actId="20577"/>
          <ac:spMkLst>
            <pc:docMk/>
            <pc:sldMk cId="2584280759" sldId="257"/>
            <ac:spMk id="8" creationId="{31DD197E-D259-EB37-0E94-03F40DE9D5A4}"/>
          </ac:spMkLst>
        </pc:spChg>
        <pc:picChg chg="mod">
          <ac:chgData name="목월 박" userId="1300032c5d11fae3" providerId="LiveId" clId="{D9586270-C413-4493-9ACB-20421103D285}" dt="2025-12-07T10:36:22.563" v="4" actId="1076"/>
          <ac:picMkLst>
            <pc:docMk/>
            <pc:sldMk cId="2584280759" sldId="257"/>
            <ac:picMk id="6" creationId="{8045422F-7258-40AC-BD2E-2469AA448922}"/>
          </ac:picMkLst>
        </pc:picChg>
        <pc:picChg chg="add del">
          <ac:chgData name="목월 박" userId="1300032c5d11fae3" providerId="LiveId" clId="{D9586270-C413-4493-9ACB-20421103D285}" dt="2025-12-07T14:28:05.280" v="769" actId="478"/>
          <ac:picMkLst>
            <pc:docMk/>
            <pc:sldMk cId="2584280759" sldId="257"/>
            <ac:picMk id="7" creationId="{277C97C2-C19E-F981-A9A9-85D42BB50D90}"/>
          </ac:picMkLst>
        </pc:picChg>
      </pc:sldChg>
      <pc:sldChg chg="addSp delSp modSp mod">
        <pc:chgData name="목월 박" userId="1300032c5d11fae3" providerId="LiveId" clId="{D9586270-C413-4493-9ACB-20421103D285}" dt="2025-12-07T14:18:22.376" v="766" actId="1076"/>
        <pc:sldMkLst>
          <pc:docMk/>
          <pc:sldMk cId="2595895762" sldId="274"/>
        </pc:sldMkLst>
        <pc:spChg chg="mod">
          <ac:chgData name="목월 박" userId="1300032c5d11fae3" providerId="LiveId" clId="{D9586270-C413-4493-9ACB-20421103D285}" dt="2025-12-07T13:25:22.345" v="729" actId="20577"/>
          <ac:spMkLst>
            <pc:docMk/>
            <pc:sldMk cId="2595895762" sldId="274"/>
            <ac:spMk id="4" creationId="{5A889DF4-290D-9263-A59F-57C5E4AA0BC2}"/>
          </ac:spMkLst>
        </pc:spChg>
        <pc:picChg chg="add mod">
          <ac:chgData name="목월 박" userId="1300032c5d11fae3" providerId="LiveId" clId="{D9586270-C413-4493-9ACB-20421103D285}" dt="2025-12-07T13:18:37.421" v="115" actId="14100"/>
          <ac:picMkLst>
            <pc:docMk/>
            <pc:sldMk cId="2595895762" sldId="274"/>
            <ac:picMk id="5" creationId="{BC20CE99-0A4E-C626-A26A-37E62E279DA1}"/>
          </ac:picMkLst>
        </pc:picChg>
        <pc:picChg chg="del mod">
          <ac:chgData name="목월 박" userId="1300032c5d11fae3" providerId="LiveId" clId="{D9586270-C413-4493-9ACB-20421103D285}" dt="2025-12-07T14:17:44.182" v="759" actId="478"/>
          <ac:picMkLst>
            <pc:docMk/>
            <pc:sldMk cId="2595895762" sldId="274"/>
            <ac:picMk id="7" creationId="{B6E79F4B-BBDD-5684-3F71-1FC713CCA2CF}"/>
          </ac:picMkLst>
        </pc:picChg>
        <pc:picChg chg="add mod">
          <ac:chgData name="목월 박" userId="1300032c5d11fae3" providerId="LiveId" clId="{D9586270-C413-4493-9ACB-20421103D285}" dt="2025-12-07T13:19:27.911" v="121" actId="1076"/>
          <ac:picMkLst>
            <pc:docMk/>
            <pc:sldMk cId="2595895762" sldId="274"/>
            <ac:picMk id="8" creationId="{372A58B8-D6E2-3922-47DA-1D9CB68BCF6F}"/>
          </ac:picMkLst>
        </pc:picChg>
        <pc:picChg chg="del mod">
          <ac:chgData name="목월 박" userId="1300032c5d11fae3" providerId="LiveId" clId="{D9586270-C413-4493-9ACB-20421103D285}" dt="2025-12-07T13:18:28.487" v="110" actId="478"/>
          <ac:picMkLst>
            <pc:docMk/>
            <pc:sldMk cId="2595895762" sldId="274"/>
            <ac:picMk id="9" creationId="{9870494E-2B2B-788D-27DA-6967FE619B74}"/>
          </ac:picMkLst>
        </pc:picChg>
        <pc:picChg chg="del mod">
          <ac:chgData name="목월 박" userId="1300032c5d11fae3" providerId="LiveId" clId="{D9586270-C413-4493-9ACB-20421103D285}" dt="2025-12-07T14:18:18.179" v="764" actId="478"/>
          <ac:picMkLst>
            <pc:docMk/>
            <pc:sldMk cId="2595895762" sldId="274"/>
            <ac:picMk id="11" creationId="{209203B9-02BB-44F5-45DE-C90A9AC06D78}"/>
          </ac:picMkLst>
        </pc:picChg>
        <pc:picChg chg="add mod">
          <ac:chgData name="목월 박" userId="1300032c5d11fae3" providerId="LiveId" clId="{D9586270-C413-4493-9ACB-20421103D285}" dt="2025-12-07T13:19:31.808" v="122" actId="1076"/>
          <ac:picMkLst>
            <pc:docMk/>
            <pc:sldMk cId="2595895762" sldId="274"/>
            <ac:picMk id="12" creationId="{1CA25A1A-03D5-0D05-6828-112AFB45A680}"/>
          </ac:picMkLst>
        </pc:picChg>
        <pc:picChg chg="del">
          <ac:chgData name="목월 박" userId="1300032c5d11fae3" providerId="LiveId" clId="{D9586270-C413-4493-9ACB-20421103D285}" dt="2025-12-07T13:19:22.694" v="118" actId="478"/>
          <ac:picMkLst>
            <pc:docMk/>
            <pc:sldMk cId="2595895762" sldId="274"/>
            <ac:picMk id="13" creationId="{F13B2239-D8F5-8389-AF69-B758228BF792}"/>
          </ac:picMkLst>
        </pc:picChg>
        <pc:picChg chg="add mod">
          <ac:chgData name="목월 박" userId="1300032c5d11fae3" providerId="LiveId" clId="{D9586270-C413-4493-9ACB-20421103D285}" dt="2025-12-07T14:17:59.138" v="763" actId="1076"/>
          <ac:picMkLst>
            <pc:docMk/>
            <pc:sldMk cId="2595895762" sldId="274"/>
            <ac:picMk id="15" creationId="{2E16D543-5347-1C12-BFC5-7C83A0BB794C}"/>
          </ac:picMkLst>
        </pc:picChg>
        <pc:picChg chg="add mod">
          <ac:chgData name="목월 박" userId="1300032c5d11fae3" providerId="LiveId" clId="{D9586270-C413-4493-9ACB-20421103D285}" dt="2025-12-07T14:18:22.376" v="766" actId="1076"/>
          <ac:picMkLst>
            <pc:docMk/>
            <pc:sldMk cId="2595895762" sldId="274"/>
            <ac:picMk id="17" creationId="{138FC75E-66C5-F0B5-21E9-A9B748E1F758}"/>
          </ac:picMkLst>
        </pc:picChg>
      </pc:sldChg>
      <pc:sldChg chg="modSp mod">
        <pc:chgData name="목월 박" userId="1300032c5d11fae3" providerId="LiveId" clId="{D9586270-C413-4493-9ACB-20421103D285}" dt="2025-12-07T13:26:31.382" v="758" actId="20577"/>
        <pc:sldMkLst>
          <pc:docMk/>
          <pc:sldMk cId="3046834000" sldId="275"/>
        </pc:sldMkLst>
        <pc:spChg chg="mod">
          <ac:chgData name="목월 박" userId="1300032c5d11fae3" providerId="LiveId" clId="{D9586270-C413-4493-9ACB-20421103D285}" dt="2025-12-07T13:26:31.382" v="758" actId="20577"/>
          <ac:spMkLst>
            <pc:docMk/>
            <pc:sldMk cId="3046834000" sldId="275"/>
            <ac:spMk id="3" creationId="{F343E3E2-F817-D880-832E-B4162562D1CC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F839092-15F8-4C72-A6BC-E11C1D12CDAA}" type="datetime1">
              <a:rPr lang="ko-KR" altLang="en-US" smtClean="0"/>
              <a:t>2025-12-07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7ACF5E7-ACB0-497B-A8C6-F2E617B463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33960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834EDFF-C18C-466F-B693-08283F9FE7CF}" type="datetime1">
              <a:rPr lang="ko-KR" altLang="en-US" smtClean="0"/>
              <a:t>2025-12-07</a:t>
            </a:fld>
            <a:endParaRPr 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"/>
              <a:t>마스터 텍스트 스타일을 편집하려면 클릭하세요.</a:t>
            </a:r>
            <a:endParaRPr lang="en-US"/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37A705E3-E620-489D-9973-6221209A4B3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581830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904DB13E-F722-4ED6-BB00-556651E9528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+mj-ea"/>
              <a:ea typeface="+mj-ea"/>
            </a:endParaRPr>
          </a:p>
        </p:txBody>
      </p:sp>
      <p:sp useBgFill="1">
        <p:nvSpPr>
          <p:cNvPr id="10" name="직사각형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직사각형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직사각형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E26428D7-C6F3-473D-A360-A3F5C3E8728C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직선 연결선(S) 16"/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/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제목 1"/>
          <p:cNvSpPr>
            <a:spLocks noGrp="1"/>
          </p:cNvSpPr>
          <p:nvPr>
            <p:ph type="ctrTitle" hasCustomPrompt="1"/>
          </p:nvPr>
        </p:nvSpPr>
        <p:spPr>
          <a:xfrm>
            <a:off x="1629103" y="2244830"/>
            <a:ext cx="8933796" cy="2437232"/>
          </a:xfrm>
        </p:spPr>
        <p:txBody>
          <a:bodyPr tIns="45720" bIns="45720" rtlCol="0" anchor="ctr">
            <a:normAutofit/>
          </a:bodyPr>
          <a:lstStyle>
            <a:lvl1pPr algn="ctr">
              <a:lnSpc>
                <a:spcPct val="83000"/>
              </a:lnSpc>
              <a:defRPr lang="en-US" sz="68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ea"/>
                <a:ea typeface="+mj-ea"/>
                <a:cs typeface="+mn-cs"/>
              </a:defRPr>
            </a:lvl1pPr>
          </a:lstStyle>
          <a:p>
            <a:pPr rtl="0"/>
            <a:r>
              <a:rPr lang="ko" dirty="0"/>
              <a:t>마스터 제목 스타일</a:t>
            </a:r>
            <a:br>
              <a:rPr lang="en-US" altLang="ko" dirty="0"/>
            </a:br>
            <a:r>
              <a:rPr lang="ko" dirty="0"/>
              <a:t>편집</a:t>
            </a:r>
            <a:endParaRPr 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629101" y="4682062"/>
            <a:ext cx="8936846" cy="457201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spc="80" baseline="0">
                <a:solidFill>
                  <a:schemeClr val="tx1">
                    <a:lumMod val="95000"/>
                    <a:lumOff val="5000"/>
                  </a:schemeClr>
                </a:solidFill>
                <a:latin typeface="+mj-ea"/>
                <a:ea typeface="+mj-ea"/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20" name="날짜 개체 틀 19"/>
          <p:cNvSpPr>
            <a:spLocks noGrp="1"/>
          </p:cNvSpPr>
          <p:nvPr>
            <p:ph type="dt" sz="half" idx="10"/>
          </p:nvPr>
        </p:nvSpPr>
        <p:spPr>
          <a:xfrm>
            <a:off x="5318760" y="1341256"/>
            <a:ext cx="1554480" cy="485546"/>
          </a:xfrm>
        </p:spPr>
        <p:txBody>
          <a:bodyPr rtlCol="0"/>
          <a:lstStyle>
            <a:lvl1pPr algn="ctr">
              <a:defRPr sz="1300" spc="0" baseline="0">
                <a:solidFill>
                  <a:srgbClr val="FFFFFF"/>
                </a:solidFill>
                <a:latin typeface="+mj-ea"/>
                <a:ea typeface="+mj-ea"/>
              </a:defRPr>
            </a:lvl1pPr>
          </a:lstStyle>
          <a:p>
            <a:fld id="{0421086B-92A0-4D22-94D7-207C8E029793}" type="datetime1">
              <a:rPr lang="ko-KR" altLang="en-US" smtClean="0"/>
              <a:t>2025-12-07</a:t>
            </a:fld>
            <a:endParaRPr lang="en-US" dirty="0"/>
          </a:p>
        </p:txBody>
      </p:sp>
      <p:sp>
        <p:nvSpPr>
          <p:cNvPr id="21" name="바닥글 개체 틀 20"/>
          <p:cNvSpPr>
            <a:spLocks noGrp="1"/>
          </p:cNvSpPr>
          <p:nvPr>
            <p:ph type="ftr" sz="quarter" idx="11"/>
          </p:nvPr>
        </p:nvSpPr>
        <p:spPr>
          <a:xfrm>
            <a:off x="1629100" y="5177408"/>
            <a:ext cx="5730295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22" name="슬라이드 번호 개체 틀 21"/>
          <p:cNvSpPr>
            <a:spLocks noGrp="1"/>
          </p:cNvSpPr>
          <p:nvPr>
            <p:ph type="sldNum" sz="quarter" idx="12"/>
          </p:nvPr>
        </p:nvSpPr>
        <p:spPr>
          <a:xfrm>
            <a:off x="8606920" y="5177408"/>
            <a:ext cx="1955980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77701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2EABA43C-120F-4415-98B3-372D2FECC855}" type="datetime1">
              <a:rPr lang="ko-KR" altLang="en-US" smtClean="0"/>
              <a:t>2025-12-07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3708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0A4A1889-E37C-4EC3-9E41-9DAD221CF38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+mj-ea"/>
              <a:ea typeface="+mj-ea"/>
            </a:endParaRPr>
          </a:p>
        </p:txBody>
      </p:sp>
      <p:sp useBgFill="1">
        <p:nvSpPr>
          <p:cNvPr id="23" name="직사각형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직사각형 23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직사각형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629156" y="2275165"/>
            <a:ext cx="8933688" cy="2406895"/>
          </a:xfrm>
        </p:spPr>
        <p:txBody>
          <a:bodyPr rtlCol="0" anchor="ctr">
            <a:normAutofit/>
          </a:bodyPr>
          <a:lstStyle>
            <a:lvl1pPr algn="ctr">
              <a:lnSpc>
                <a:spcPct val="83000"/>
              </a:lnSpc>
              <a:defRPr lang="en-US" sz="68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ea"/>
                <a:ea typeface="+mj-ea"/>
                <a:cs typeface="+mn-cs"/>
              </a:defRPr>
            </a:lvl1pPr>
          </a:lstStyle>
          <a:p>
            <a:pPr rtl="0"/>
            <a:r>
              <a:rPr lang="ko" dirty="0"/>
              <a:t>마스터 제목 스타일</a:t>
            </a:r>
            <a:br>
              <a:rPr lang="en-US" altLang="ko" dirty="0"/>
            </a:br>
            <a:r>
              <a:rPr lang="ko" dirty="0"/>
              <a:t>편집</a:t>
            </a:r>
            <a:endParaRPr 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683EB04-C23E-490C-A1A6-030CF79D23C8}"/>
              </a:ext>
            </a:extLst>
          </p:cNvPr>
          <p:cNvGrpSpPr/>
          <p:nvPr/>
        </p:nvGrpSpPr>
        <p:grpSpPr>
          <a:xfrm>
            <a:off x="5250180" y="1267730"/>
            <a:ext cx="1691640" cy="615934"/>
            <a:chOff x="5250180" y="1267730"/>
            <a:chExt cx="1691640" cy="615934"/>
          </a:xfrm>
        </p:grpSpPr>
        <p:cxnSp>
          <p:nvCxnSpPr>
            <p:cNvPr id="17" name="직선 연결선 16">
              <a:extLst>
                <a:ext uri="{FF2B5EF4-FFF2-40B4-BE49-F238E27FC236}">
                  <a16:creationId xmlns:a16="http://schemas.microsoft.com/office/drawing/2014/main" id="{F8A84C03-E1CA-4A4E-81D6-9BB0C335B7A0}"/>
                </a:ext>
              </a:extLst>
            </p:cNvPr>
            <p:cNvCxnSpPr/>
            <p:nvPr/>
          </p:nvCxnSpPr>
          <p:spPr>
            <a:xfrm>
              <a:off x="525018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직선 연결선 17">
              <a:extLst>
                <a:ext uri="{FF2B5EF4-FFF2-40B4-BE49-F238E27FC236}">
                  <a16:creationId xmlns:a16="http://schemas.microsoft.com/office/drawing/2014/main" id="{4A26FB5A-D5D1-4DAB-AC43-7F51A7F2D197}"/>
                </a:ext>
              </a:extLst>
            </p:cNvPr>
            <p:cNvCxnSpPr/>
            <p:nvPr/>
          </p:nvCxnSpPr>
          <p:spPr>
            <a:xfrm>
              <a:off x="6941820" y="1267730"/>
              <a:ext cx="0" cy="612648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(S) 18">
              <a:extLst>
                <a:ext uri="{FF2B5EF4-FFF2-40B4-BE49-F238E27FC236}">
                  <a16:creationId xmlns:a16="http://schemas.microsoft.com/office/drawing/2014/main" id="{49303F14-E560-4C02-94F4-B4695FE26813}"/>
                </a:ext>
              </a:extLst>
            </p:cNvPr>
            <p:cNvCxnSpPr/>
            <p:nvPr/>
          </p:nvCxnSpPr>
          <p:spPr>
            <a:xfrm>
              <a:off x="5250180" y="1883664"/>
              <a:ext cx="1691640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rgbClr val="FFFFFF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629156" y="4682062"/>
            <a:ext cx="8939784" cy="457200"/>
          </a:xfrm>
        </p:spPr>
        <p:txBody>
          <a:bodyPr rtlCol="0" anchor="t">
            <a:normAutofit/>
          </a:bodyPr>
          <a:lstStyle>
            <a:lvl1pPr marL="0" indent="0" algn="ctr">
              <a:buNone/>
              <a:tabLst>
                <a:tab pos="2633663" algn="l"/>
              </a:tabLst>
              <a:defRPr sz="180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+mj-ea"/>
                <a:ea typeface="+mj-ea"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5318760" y="1344502"/>
            <a:ext cx="1554480" cy="498781"/>
          </a:xfrm>
        </p:spPr>
        <p:txBody>
          <a:bodyPr rtlCol="0"/>
          <a:lstStyle>
            <a:lvl1pPr algn="ctr">
              <a:defRPr lang="en-US" sz="1300" kern="1200" spc="0" baseline="0">
                <a:solidFill>
                  <a:srgbClr val="FFFFFF"/>
                </a:solidFill>
                <a:latin typeface="+mj-ea"/>
                <a:ea typeface="+mj-ea"/>
                <a:cs typeface="+mn-cs"/>
              </a:defRPr>
            </a:lvl1pPr>
          </a:lstStyle>
          <a:p>
            <a:fld id="{7A3EB572-C624-418B-8597-163D90616FC8}" type="datetime1">
              <a:rPr lang="ko-KR" altLang="en-US" smtClean="0"/>
              <a:t>2025-12-07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1629157" y="5177408"/>
            <a:ext cx="5660134" cy="228600"/>
          </a:xfrm>
        </p:spPr>
        <p:txBody>
          <a:bodyPr rtlCol="0"/>
          <a:lstStyle>
            <a:lvl1pPr algn="l"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604504" y="5177408"/>
            <a:ext cx="1958339" cy="22860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6071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제목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663440" cy="3749040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61760" y="2103120"/>
            <a:ext cx="4663440" cy="3749040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BE760CE9-DAAA-4235-992F-BD3E0145916A}" type="datetime1">
              <a:rPr lang="ko-KR" altLang="en-US" smtClean="0"/>
              <a:t>2025-12-07</a:t>
            </a:fld>
            <a:endParaRPr 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721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 i="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69848" y="2792472"/>
            <a:ext cx="4663440" cy="3163825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ko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58712" y="2074334"/>
            <a:ext cx="4663440" cy="640080"/>
          </a:xfrm>
        </p:spPr>
        <p:txBody>
          <a:bodyPr rtlCol="0" anchor="ctr">
            <a:normAutofit/>
          </a:bodyPr>
          <a:lstStyle>
            <a:lvl1pPr marL="0" indent="0" algn="l">
              <a:spcBef>
                <a:spcPts val="0"/>
              </a:spcBef>
              <a:buNone/>
              <a:defRPr sz="1900" b="1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8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58712" y="2792471"/>
            <a:ext cx="4663440" cy="3164509"/>
          </a:xfrm>
        </p:spPr>
        <p:txBody>
          <a:bodyPr rtlCol="0"/>
          <a:lstStyle>
            <a:lvl1pPr>
              <a:defRPr sz="18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ko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12DB1AE6-F89A-4A3B-A7FF-0FB649FB73D9}" type="datetime1">
              <a:rPr lang="ko-KR" altLang="en-US" smtClean="0"/>
              <a:t>2025-12-07</a:t>
            </a:fld>
            <a:endParaRPr 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960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D692FE0A-EA49-4D7D-9497-837FBECB3F6B}" type="datetime1">
              <a:rPr lang="ko-KR" altLang="en-US" smtClean="0"/>
              <a:t>2025-12-07</a:t>
            </a:fld>
            <a:endParaRPr 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413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비어 있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56FBB2DF-47A9-40D1-8CCE-28FE2873E83F}" type="datetime1">
              <a:rPr lang="ko-KR" altLang="en-US" smtClean="0"/>
              <a:t>2025-12-07</a:t>
            </a:fld>
            <a:endParaRPr 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2471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>
            <a:extLst>
              <a:ext uri="{FF2B5EF4-FFF2-40B4-BE49-F238E27FC236}">
                <a16:creationId xmlns:a16="http://schemas.microsoft.com/office/drawing/2014/main" id="{D5E1BBF9-8BEF-4353-BA68-30AAF9EBD8D8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B941C21-2A5D-4912-AB06-1BB0C0EB6AE1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458200" y="607392"/>
            <a:ext cx="3161963" cy="1645920"/>
          </a:xfrm>
        </p:spPr>
        <p:txBody>
          <a:bodyPr rtlCol="0" anchor="b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200" b="0" kern="1200" cap="none" spc="0" baseline="0" dirty="0">
                <a:solidFill>
                  <a:schemeClr val="tx1"/>
                </a:solidFill>
                <a:effectLst/>
                <a:latin typeface="+mj-ea"/>
                <a:ea typeface="+mj-ea"/>
                <a:cs typeface="+mn-cs"/>
              </a:defRPr>
            </a:lvl1pPr>
          </a:lstStyle>
          <a:p>
            <a:pPr rtl="0"/>
            <a:r>
              <a:rPr lang="ko" dirty="0"/>
              <a:t>마스터 제목</a:t>
            </a:r>
            <a:br>
              <a:rPr lang="en-US" altLang="ko" dirty="0"/>
            </a:br>
            <a:r>
              <a:rPr lang="ko" dirty="0"/>
              <a:t>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85800" y="609600"/>
            <a:ext cx="6858000" cy="5334000"/>
          </a:xfrm>
        </p:spPr>
        <p:txBody>
          <a:bodyPr rtlCol="0"/>
          <a:lstStyle>
            <a:lvl1pPr>
              <a:defRPr sz="1900">
                <a:latin typeface="+mj-ea"/>
                <a:ea typeface="+mj-ea"/>
              </a:defRPr>
            </a:lvl1pPr>
            <a:lvl2pPr>
              <a:defRPr sz="1600">
                <a:latin typeface="+mj-ea"/>
                <a:ea typeface="+mj-ea"/>
              </a:defRPr>
            </a:lvl2pPr>
            <a:lvl3pPr>
              <a:defRPr sz="1400">
                <a:latin typeface="+mj-ea"/>
                <a:ea typeface="+mj-ea"/>
              </a:defRPr>
            </a:lvl3pPr>
            <a:lvl4pPr>
              <a:defRPr sz="1400">
                <a:latin typeface="+mj-ea"/>
                <a:ea typeface="+mj-ea"/>
              </a:defRPr>
            </a:lvl4pPr>
            <a:lvl5pPr>
              <a:defRPr sz="1400">
                <a:latin typeface="+mj-ea"/>
                <a:ea typeface="+mj-ea"/>
              </a:defRPr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8458200" y="2336800"/>
            <a:ext cx="3161963" cy="3606800"/>
          </a:xfrm>
        </p:spPr>
        <p:txBody>
          <a:bodyPr rtlCol="0"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" dirty="0"/>
              <a:t>마스터 텍스트 스타일을</a:t>
            </a:r>
            <a:br>
              <a:rPr lang="en-US" altLang="ko" dirty="0"/>
            </a:br>
            <a:r>
              <a:rPr lang="ko" dirty="0"/>
              <a:t>편집하려면 클릭하세요.</a:t>
            </a:r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10"/>
          </p:nvPr>
        </p:nvSpPr>
        <p:spPr>
          <a:xfrm>
            <a:off x="5588000" y="6035040"/>
            <a:ext cx="1955800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fld id="{490B79C2-6C94-403B-8C2C-F3D94681D3D0}" type="datetime1">
              <a:rPr lang="ko-KR" altLang="en-US" smtClean="0"/>
              <a:t>2025-12-07</a:t>
            </a:fld>
            <a:endParaRPr 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11"/>
          </p:nvPr>
        </p:nvSpPr>
        <p:spPr>
          <a:xfrm>
            <a:off x="685801" y="6035040"/>
            <a:ext cx="4584700" cy="365760"/>
          </a:xfrm>
        </p:spPr>
        <p:txBody>
          <a:bodyPr rtlCol="0"/>
          <a:lstStyle>
            <a:lvl1pPr algn="l"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11" name="슬라이드 번호 개체 틀 10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3435" cy="365760"/>
          </a:xfrm>
        </p:spPr>
        <p:txBody>
          <a:bodyPr rtlCol="0"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602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E687CA98-D9C7-497F-A1DA-7D22F8753BCE}"/>
              </a:ext>
            </a:extLst>
          </p:cNvPr>
          <p:cNvSpPr/>
          <p:nvPr/>
        </p:nvSpPr>
        <p:spPr>
          <a:xfrm>
            <a:off x="8119870" y="237744"/>
            <a:ext cx="3826596" cy="6382512"/>
          </a:xfrm>
          <a:prstGeom prst="rect">
            <a:avLst/>
          </a:prstGeom>
          <a:solidFill>
            <a:schemeClr val="bg1">
              <a:lumMod val="8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그림 개체 틀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7696201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rtlCol="0" anchor="t"/>
          <a:lstStyle>
            <a:lvl1pPr marL="0" indent="0">
              <a:buNone/>
              <a:defRPr sz="3200">
                <a:latin typeface="+mj-ea"/>
                <a:ea typeface="+mj-ea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5662337" y="6035040"/>
            <a:ext cx="2071963" cy="365760"/>
          </a:xfrm>
        </p:spPr>
        <p:txBody>
          <a:bodyPr rtlCol="0"/>
          <a:lstStyle>
            <a:lvl1pPr>
              <a:defRPr b="1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</a:defRPr>
            </a:lvl1pPr>
          </a:lstStyle>
          <a:p>
            <a:fld id="{85759F83-5FB7-41EB-8B77-54D18451864A}" type="datetime1">
              <a:rPr lang="ko-KR" altLang="en-US" smtClean="0"/>
              <a:t>2025-12-07</a:t>
            </a:fld>
            <a:endParaRPr 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612648" y="6035040"/>
            <a:ext cx="4588002" cy="365760"/>
          </a:xfrm>
        </p:spPr>
        <p:txBody>
          <a:bodyPr rtlCol="0"/>
          <a:lstStyle>
            <a:lvl1pPr marL="0" algn="r" defTabSz="914400" rtl="0" eaLnBrk="1" latinLnBrk="0" hangingPunct="1">
              <a:defRPr lang="en-US" sz="1000" b="1" kern="1200" dirty="0">
                <a:solidFill>
                  <a:srgbClr val="FFFFFF"/>
                </a:solidFill>
                <a:effectLst>
                  <a:outerShdw blurRad="1905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j-ea"/>
                <a:ea typeface="+mj-ea"/>
                <a:cs typeface="+mn-cs"/>
              </a:defRPr>
            </a:lvl1pPr>
          </a:lstStyle>
          <a:p>
            <a:pPr algn="l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10396728" y="6035040"/>
            <a:ext cx="1225296" cy="365760"/>
          </a:xfrm>
        </p:spPr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F8B3D8CC-BB13-41A5-8F34-B8E84A4F9534}"/>
              </a:ext>
            </a:extLst>
          </p:cNvPr>
          <p:cNvSpPr/>
          <p:nvPr/>
        </p:nvSpPr>
        <p:spPr>
          <a:xfrm>
            <a:off x="8254660" y="374904"/>
            <a:ext cx="3557016" cy="6108192"/>
          </a:xfrm>
          <a:prstGeom prst="rect">
            <a:avLst/>
          </a:prstGeom>
          <a:noFill/>
          <a:ln w="63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8477250" y="603504"/>
            <a:ext cx="3144774" cy="1645920"/>
          </a:xfrm>
        </p:spPr>
        <p:txBody>
          <a:bodyPr rtlCol="0" anchor="b">
            <a:noAutofit/>
          </a:bodyPr>
          <a:lstStyle>
            <a:lvl1pPr algn="l">
              <a:lnSpc>
                <a:spcPct val="100000"/>
              </a:lnSpc>
              <a:defRPr sz="3200" b="0">
                <a:solidFill>
                  <a:schemeClr val="tx1"/>
                </a:solidFill>
                <a:latin typeface="+mj-ea"/>
                <a:ea typeface="+mj-ea"/>
              </a:defRPr>
            </a:lvl1pPr>
          </a:lstStyle>
          <a:p>
            <a:pPr rtl="0"/>
            <a:r>
              <a:rPr lang="ko" dirty="0"/>
              <a:t>마스터 제목</a:t>
            </a:r>
            <a:br>
              <a:rPr lang="en-US" altLang="ko" dirty="0"/>
            </a:br>
            <a:r>
              <a:rPr lang="ko" dirty="0"/>
              <a:t>스타일 편집</a:t>
            </a:r>
            <a:endParaRPr 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 hasCustomPrompt="1"/>
          </p:nvPr>
        </p:nvSpPr>
        <p:spPr>
          <a:xfrm>
            <a:off x="8477250" y="2386584"/>
            <a:ext cx="3144774" cy="3511296"/>
          </a:xfrm>
        </p:spPr>
        <p:txBody>
          <a:bodyPr rtlCol="0"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800">
                <a:solidFill>
                  <a:schemeClr val="tx1"/>
                </a:solidFill>
                <a:latin typeface="+mj-ea"/>
                <a:ea typeface="+mj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ko" dirty="0"/>
              <a:t>마스터 텍스트 스타일을</a:t>
            </a:r>
            <a:br>
              <a:rPr lang="en-US" altLang="ko" dirty="0"/>
            </a:br>
            <a:r>
              <a:rPr lang="ko" dirty="0"/>
              <a:t>편집하려면 클릭하세요.</a:t>
            </a:r>
          </a:p>
        </p:txBody>
      </p:sp>
    </p:spTree>
    <p:extLst>
      <p:ext uri="{BB962C8B-B14F-4D97-AF65-F5344CB8AC3E}">
        <p14:creationId xmlns:p14="http://schemas.microsoft.com/office/powerpoint/2010/main" val="267822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9AA789D4-F75C-46F1-A8E1-B49D7553F821}" type="datetime1">
              <a:rPr lang="ko-KR" altLang="en-US" smtClean="0"/>
              <a:t>2025-12-07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3299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 rtlCol="0"/>
          <a:lstStyle>
            <a:lvl1pPr>
              <a:defRPr>
                <a:latin typeface="+mj-ea"/>
                <a:ea typeface="+mj-ea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 rtlCol="0"/>
          <a:lstStyle>
            <a:lvl1pPr>
              <a:defRPr>
                <a:latin typeface="+mj-ea"/>
                <a:ea typeface="+mj-ea"/>
              </a:defRPr>
            </a:lvl1pPr>
            <a:lvl2pPr>
              <a:defRPr>
                <a:latin typeface="+mj-ea"/>
                <a:ea typeface="+mj-ea"/>
              </a:defRPr>
            </a:lvl2pPr>
            <a:lvl3pPr>
              <a:defRPr>
                <a:latin typeface="+mj-ea"/>
                <a:ea typeface="+mj-ea"/>
              </a:defRPr>
            </a:lvl3pPr>
            <a:lvl4pPr>
              <a:defRPr>
                <a:latin typeface="+mj-ea"/>
                <a:ea typeface="+mj-ea"/>
              </a:defRPr>
            </a:lvl4pPr>
            <a:lvl5pPr>
              <a:defRPr>
                <a:latin typeface="+mj-ea"/>
                <a:ea typeface="+mj-ea"/>
              </a:defRPr>
            </a:lvl5pPr>
          </a:lstStyle>
          <a:p>
            <a:pPr lvl="0" rtl="0"/>
            <a:r>
              <a:rPr lang="ko-KR" altLang="en-US"/>
              <a:t>마스터 텍스트 스타일을 편집하려면 클릭</a:t>
            </a:r>
          </a:p>
          <a:p>
            <a:pPr lvl="1" rtl="0"/>
            <a:r>
              <a:rPr lang="ko-KR" altLang="en-US"/>
              <a:t>두 번째 수준</a:t>
            </a:r>
          </a:p>
          <a:p>
            <a:pPr lvl="2" rtl="0"/>
            <a:r>
              <a:rPr lang="ko-KR" altLang="en-US"/>
              <a:t>세 번째 수준</a:t>
            </a:r>
          </a:p>
          <a:p>
            <a:pPr lvl="3" rtl="0"/>
            <a:r>
              <a:rPr lang="ko-KR" altLang="en-US"/>
              <a:t>네 번째 수준</a:t>
            </a:r>
          </a:p>
          <a:p>
            <a:pPr lvl="4" rtl="0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6E95217A-41F5-40B0-A1B1-26DD36AFCC5B}" type="datetime1">
              <a:rPr lang="ko-KR" altLang="en-US" smtClean="0"/>
              <a:t>2025-12-07</a:t>
            </a:fld>
            <a:endParaRPr 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endParaRPr 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0734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직사각형 8">
            <a:extLst>
              <a:ext uri="{FF2B5EF4-FFF2-40B4-BE49-F238E27FC236}">
                <a16:creationId xmlns:a16="http://schemas.microsoft.com/office/drawing/2014/main" id="{1E94681D-2A4C-4A8D-B9B5-31D440D0328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>
              <a:latin typeface="+mj-ea"/>
              <a:ea typeface="+mj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1">
              <a:lumMod val="75000"/>
              <a:alpha val="60000"/>
            </a:schemeClr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8" name="직사각형 7"/>
          <p:cNvSpPr/>
          <p:nvPr/>
        </p:nvSpPr>
        <p:spPr>
          <a:xfrm>
            <a:off x="371856" y="374904"/>
            <a:ext cx="11448288" cy="6108192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85000"/>
                <a:lumOff val="15000"/>
              </a:schemeClr>
            </a:solidFill>
            <a:prstDash val="solid"/>
            <a:miter lim="800000"/>
          </a:ln>
          <a:effectLst/>
        </p:spPr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ko"/>
              <a:t>마스터 제목 스타일 편집</a:t>
            </a:r>
            <a:endParaRPr 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8496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"/>
              <a:t>마스터 텍스트 스타일을 편집하려면 클릭하세요.</a:t>
            </a:r>
          </a:p>
          <a:p>
            <a:pPr lvl="1" rtl="0"/>
            <a:r>
              <a:rPr lang="ko"/>
              <a:t>둘째 수준</a:t>
            </a:r>
          </a:p>
          <a:p>
            <a:pPr lvl="2" rtl="0"/>
            <a:r>
              <a:rPr lang="ko"/>
              <a:t>셋째 수준</a:t>
            </a:r>
          </a:p>
          <a:p>
            <a:pPr lvl="3" rtl="0"/>
            <a:r>
              <a:rPr lang="ko"/>
              <a:t>넷째 수준</a:t>
            </a:r>
          </a:p>
          <a:p>
            <a:pPr lvl="4" rtl="0"/>
            <a:r>
              <a:rPr lang="ko"/>
              <a:t>다섯째 수준</a:t>
            </a:r>
            <a:endParaRPr lang="en-US" dirty="0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7256794" y="6035040"/>
            <a:ext cx="2893045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98D2B5FF-957F-493E-A036-A1B14CB1BDF4}" type="datetime1">
              <a:rPr lang="ko-KR" altLang="en-US" smtClean="0"/>
              <a:t>2025-12-07</a:t>
            </a:fld>
            <a:endParaRPr 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1066800" y="6035040"/>
            <a:ext cx="58166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800">
                <a:solidFill>
                  <a:schemeClr val="tx1">
                    <a:lumMod val="85000"/>
                    <a:lumOff val="15000"/>
                  </a:schemeClr>
                </a:solidFill>
                <a:latin typeface="+mj-ea"/>
                <a:ea typeface="+mj-ea"/>
              </a:defRPr>
            </a:lvl1pPr>
          </a:lstStyle>
          <a:p>
            <a:endParaRPr 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287000" y="6035040"/>
            <a:ext cx="838200" cy="3657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800">
                <a:solidFill>
                  <a:schemeClr val="tx1">
                    <a:lumMod val="75000"/>
                    <a:lumOff val="25000"/>
                  </a:schemeClr>
                </a:solidFill>
                <a:latin typeface="+mj-ea"/>
                <a:ea typeface="+mj-ea"/>
              </a:defRPr>
            </a:lvl1pPr>
          </a:lstStyle>
          <a:p>
            <a:fld id="{34B7E4EF-A1BD-40F4-AB7B-04F084DD991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77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65" r:id="rId5"/>
    <p:sldLayoutId id="2147483671" r:id="rId6"/>
    <p:sldLayoutId id="2147483672" r:id="rId7"/>
    <p:sldLayoutId id="2147483662" r:id="rId8"/>
    <p:sldLayoutId id="2147483663" r:id="rId9"/>
    <p:sldLayoutId id="2147483664" r:id="rId10"/>
    <p:sldLayoutId id="2147483666" r:id="rId11"/>
  </p:sldLayoutIdLst>
  <p:hf sldNum="0" hdr="0" ftr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lang="en-US" sz="4000" i="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ea"/>
          <a:ea typeface="+mj-ea"/>
          <a:cs typeface="+mn-cs"/>
        </a:defRPr>
      </a:lvl1pPr>
    </p:titleStyle>
    <p:bodyStyle>
      <a:lvl1pPr marL="182880" indent="-182880" algn="l" defTabSz="914400" rtl="0" eaLnBrk="1" latinLnBrk="1" hangingPunct="1">
        <a:lnSpc>
          <a:spcPct val="11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500" kern="1200">
          <a:solidFill>
            <a:schemeClr val="tx1"/>
          </a:solidFill>
          <a:latin typeface="+mj-ea"/>
          <a:ea typeface="+mj-ea"/>
          <a:cs typeface="+mn-cs"/>
        </a:defRPr>
      </a:lvl1pPr>
      <a:lvl2pPr marL="45720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300" kern="1200">
          <a:solidFill>
            <a:schemeClr val="tx1"/>
          </a:solidFill>
          <a:latin typeface="+mj-ea"/>
          <a:ea typeface="+mj-ea"/>
          <a:cs typeface="+mn-cs"/>
        </a:defRPr>
      </a:lvl2pPr>
      <a:lvl3pPr marL="73152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j-ea"/>
          <a:ea typeface="+mj-ea"/>
          <a:cs typeface="+mn-cs"/>
        </a:defRPr>
      </a:lvl3pPr>
      <a:lvl4pPr marL="100584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j-ea"/>
          <a:ea typeface="+mj-ea"/>
          <a:cs typeface="+mn-cs"/>
        </a:defRPr>
      </a:lvl4pPr>
      <a:lvl5pPr marL="1280160" indent="-18288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200" kern="1200">
          <a:solidFill>
            <a:schemeClr val="tx1"/>
          </a:solidFill>
          <a:latin typeface="+mj-ea"/>
          <a:ea typeface="+mj-ea"/>
          <a:cs typeface="+mn-cs"/>
        </a:defRPr>
      </a:lvl5pPr>
      <a:lvl6pPr marL="16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1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로고 클로즈업&#10;&#10;자동 생성되는 설명">
            <a:extLst>
              <a:ext uri="{FF2B5EF4-FFF2-40B4-BE49-F238E27FC236}">
                <a16:creationId xmlns:a16="http://schemas.microsoft.com/office/drawing/2014/main" id="{8045422F-7258-40AC-BD2E-2469AA44892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/>
          <a:stretch/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82" name="직사각형 81">
            <a:extLst>
              <a:ext uri="{FF2B5EF4-FFF2-40B4-BE49-F238E27FC236}">
                <a16:creationId xmlns:a16="http://schemas.microsoft.com/office/drawing/2014/main" id="{2644B391-9BFE-445C-A9EC-F544BB85F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5067" y="1808532"/>
            <a:ext cx="5452527" cy="3240936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 w="6350" cap="sq" cmpd="sng" algn="ctr">
            <a:noFill/>
            <a:prstDash val="solid"/>
            <a:miter lim="800000"/>
          </a:ln>
          <a:effectLst/>
        </p:spPr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80F26E69-87D9-4655-AE7B-280A87AA3C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861010" y="1975104"/>
            <a:ext cx="5120640" cy="2907792"/>
          </a:xfrm>
          <a:prstGeom prst="rect">
            <a:avLst/>
          </a:prstGeom>
          <a:noFill/>
          <a:ln w="6350" cap="sq" cmpd="sng" algn="ctr">
            <a:solidFill>
              <a:schemeClr val="tx1"/>
            </a:solidFill>
            <a:prstDash val="solid"/>
            <a:miter lim="800000"/>
          </a:ln>
          <a:effectLst>
            <a:softEdge rad="0"/>
          </a:effectLst>
        </p:spPr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8C3B467-088C-4F3D-A9A7-105C4E1E20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33793" y="2355458"/>
            <a:ext cx="4775075" cy="1630907"/>
          </a:xfrm>
        </p:spPr>
        <p:txBody>
          <a:bodyPr rtlCol="0">
            <a:normAutofit/>
          </a:bodyPr>
          <a:lstStyle/>
          <a:p>
            <a:pPr rtl="0"/>
            <a:r>
              <a:rPr lang="ko-KR" altLang="en-US" sz="3500" dirty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강화학습개론 프로젝트 보고서</a:t>
            </a:r>
            <a:endParaRPr lang="ko" sz="3500" dirty="0">
              <a:solidFill>
                <a:schemeClr val="tx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8722DDC-8EEE-4A06-8DFE-B44871EAA2C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33793" y="3995988"/>
            <a:ext cx="4775075" cy="559656"/>
          </a:xfrm>
        </p:spPr>
        <p:txBody>
          <a:bodyPr rtlCol="0">
            <a:normAutofit/>
          </a:bodyPr>
          <a:lstStyle/>
          <a:p>
            <a:pPr rtl="0">
              <a:spcAft>
                <a:spcPts val="600"/>
              </a:spcAft>
            </a:pPr>
            <a:r>
              <a:rPr lang="en-US" altLang="ko" dirty="0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20241594 </a:t>
            </a:r>
            <a:r>
              <a:rPr lang="ko-KR" altLang="en-US" dirty="0" err="1">
                <a:solidFill>
                  <a:schemeClr val="tx1"/>
                </a:solidFill>
                <a:latin typeface="Malgun Gothic" panose="020B0503020000020004" pitchFamily="50" charset="-127"/>
                <a:ea typeface="Malgun Gothic" panose="020B0503020000020004" pitchFamily="50" charset="-127"/>
              </a:rPr>
              <a:t>박목월</a:t>
            </a:r>
            <a:endParaRPr lang="ko" dirty="0">
              <a:solidFill>
                <a:schemeClr val="tx1"/>
              </a:solidFill>
              <a:latin typeface="Malgun Gothic" panose="020B0503020000020004" pitchFamily="50" charset="-127"/>
              <a:ea typeface="Malgun Gothic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1DD197E-D259-EB37-0E94-03F40DE9D5A4}"/>
              </a:ext>
            </a:extLst>
          </p:cNvPr>
          <p:cNvSpPr txBox="1"/>
          <p:nvPr/>
        </p:nvSpPr>
        <p:spPr>
          <a:xfrm>
            <a:off x="372140" y="5904897"/>
            <a:ext cx="43168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</a:rPr>
              <a:t>https://github.com/qkr-ahrdnjf/RL 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428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4">
            <a:extLst>
              <a:ext uri="{FF2B5EF4-FFF2-40B4-BE49-F238E27FC236}">
                <a16:creationId xmlns:a16="http://schemas.microsoft.com/office/drawing/2014/main" id="{A300E843-618E-D067-F7AB-D6FB734712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84DB75-6DAE-0BF1-02C9-FF2C843CAE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 </a:t>
            </a:r>
            <a:r>
              <a:rPr lang="ko-KR" altLang="en-US" sz="2000" dirty="0"/>
              <a:t>프로젝트 소개</a:t>
            </a:r>
            <a:endParaRPr lang="en-US" altLang="ko-KR" sz="2000" dirty="0"/>
          </a:p>
          <a:p>
            <a:r>
              <a:rPr lang="ko-KR" altLang="en-US" sz="2000" dirty="0"/>
              <a:t> 주요 기능</a:t>
            </a:r>
            <a:endParaRPr lang="en-US" altLang="ko-KR" sz="2000" dirty="0"/>
          </a:p>
          <a:p>
            <a:r>
              <a:rPr lang="en-US" altLang="ko-KR" sz="2000" dirty="0"/>
              <a:t> </a:t>
            </a:r>
            <a:r>
              <a:rPr lang="ko-KR" altLang="en-US" sz="2000" dirty="0"/>
              <a:t>데이터셋</a:t>
            </a:r>
            <a:r>
              <a:rPr lang="en-US" altLang="ko-KR" sz="2000" dirty="0"/>
              <a:t>, State-Action-Reward </a:t>
            </a:r>
            <a:r>
              <a:rPr lang="ko-KR" altLang="en-US" sz="2000" dirty="0"/>
              <a:t>설계</a:t>
            </a:r>
            <a:endParaRPr lang="en-US" altLang="ko-KR" sz="2000" dirty="0"/>
          </a:p>
          <a:p>
            <a:r>
              <a:rPr lang="en-US" altLang="ko-KR" sz="2000" dirty="0"/>
              <a:t> </a:t>
            </a:r>
            <a:r>
              <a:rPr lang="ko-KR" altLang="en-US" sz="2000" dirty="0"/>
              <a:t>실험 설정</a:t>
            </a:r>
            <a:endParaRPr lang="en-US" altLang="ko-KR" sz="2000" dirty="0"/>
          </a:p>
          <a:p>
            <a:r>
              <a:rPr lang="en-US" altLang="ko-KR" sz="2000" dirty="0"/>
              <a:t> </a:t>
            </a:r>
            <a:r>
              <a:rPr lang="ko-KR" altLang="en-US" sz="2000" dirty="0" err="1"/>
              <a:t>하이퍼파라미터</a:t>
            </a:r>
            <a:r>
              <a:rPr lang="en-US" altLang="ko-KR" sz="2000" dirty="0"/>
              <a:t>, </a:t>
            </a:r>
            <a:r>
              <a:rPr lang="ko-KR" altLang="en-US" sz="2000" dirty="0"/>
              <a:t>다중 </a:t>
            </a:r>
            <a:r>
              <a:rPr lang="ko-KR" altLang="en-US" sz="2000" dirty="0" err="1"/>
              <a:t>시드</a:t>
            </a:r>
            <a:r>
              <a:rPr lang="ko-KR" altLang="en-US" sz="2000" dirty="0"/>
              <a:t> 실험</a:t>
            </a:r>
            <a:endParaRPr lang="en-US" altLang="ko-KR" sz="2000" dirty="0"/>
          </a:p>
          <a:p>
            <a:r>
              <a:rPr lang="en-US" altLang="ko-KR" sz="2000" dirty="0"/>
              <a:t> </a:t>
            </a:r>
            <a:r>
              <a:rPr lang="ko-KR" altLang="en-US" sz="2000" dirty="0"/>
              <a:t>실험 결과</a:t>
            </a:r>
            <a:endParaRPr lang="en-US" altLang="ko-KR" sz="2000" dirty="0"/>
          </a:p>
          <a:p>
            <a:r>
              <a:rPr lang="en-US" altLang="ko-KR" sz="2000" dirty="0"/>
              <a:t> </a:t>
            </a:r>
            <a:r>
              <a:rPr lang="ko-KR" altLang="en-US" sz="2000" dirty="0"/>
              <a:t>결론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662052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9AF999-78E5-A322-91D9-0C726C6D8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프로젝트 소개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E7FE4D1-E806-6857-0C16-49716A99BE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본 연구는</a:t>
            </a:r>
            <a:r>
              <a:rPr lang="en-US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en-US" altLang="ko-KR" sz="1800" dirty="0" err="1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MovieLens</a:t>
            </a:r>
            <a:r>
              <a:rPr lang="en-US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ko-KR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데이터셋을 활용하여 강화학습 기반의 영화 추천 시스템을 구현한다</a:t>
            </a:r>
            <a:r>
              <a:rPr lang="en-US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추천 시스템의 탐험</a:t>
            </a:r>
            <a:r>
              <a:rPr lang="en-US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-</a:t>
            </a:r>
            <a:r>
              <a:rPr lang="ko-KR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활용</a:t>
            </a:r>
            <a:r>
              <a:rPr lang="en-US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ko-KR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문제</a:t>
            </a:r>
            <a:r>
              <a:rPr lang="ko-KR" altLang="en-US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에</a:t>
            </a:r>
            <a:r>
              <a:rPr lang="en-US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 Contextual Bandit </a:t>
            </a:r>
            <a:r>
              <a:rPr lang="ko-KR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프레임워크</a:t>
            </a:r>
            <a:r>
              <a:rPr lang="ko-KR" altLang="en-US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를 접목하고 </a:t>
            </a:r>
            <a:r>
              <a:rPr lang="en-US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, Random, ε-Greedy, Thompson Sampling, Sequential DQN</a:t>
            </a:r>
            <a:r>
              <a:rPr lang="ko-KR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의 네 가지 알고리즘을 비교 분석하였다</a:t>
            </a:r>
            <a:r>
              <a:rPr lang="en-US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특히</a:t>
            </a:r>
            <a:r>
              <a:rPr lang="en-US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 LSTM </a:t>
            </a:r>
            <a:r>
              <a:rPr lang="ko-KR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기반의</a:t>
            </a:r>
            <a:r>
              <a:rPr lang="en-US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 Sequential DQN</a:t>
            </a:r>
            <a:r>
              <a:rPr lang="ko-KR" altLang="en-US" sz="1800" dirty="0">
                <a:latin typeface="Arial" panose="020B0604020202020204" pitchFamily="34" charset="0"/>
                <a:ea typeface="맑은 고딕" panose="020B0503020000020004" pitchFamily="50" charset="-127"/>
              </a:rPr>
              <a:t>으로</a:t>
            </a:r>
            <a:r>
              <a:rPr lang="ko-KR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 사용자의 시청 </a:t>
            </a:r>
            <a:r>
              <a:rPr lang="ko-KR" altLang="en-US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기록을</a:t>
            </a:r>
            <a:r>
              <a:rPr lang="ko-KR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저장해 </a:t>
            </a:r>
            <a:r>
              <a:rPr lang="ko-KR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시간적 의존성을 포착하였다</a:t>
            </a:r>
            <a:r>
              <a:rPr lang="en-US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. </a:t>
            </a:r>
            <a:r>
              <a:rPr lang="ko-KR" altLang="ko-KR" sz="1800" dirty="0" err="1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하이퍼파라미터</a:t>
            </a:r>
            <a:r>
              <a:rPr lang="ko-KR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 튜닝을 통해 각 알고리즘의 최적 설정을 탐색</a:t>
            </a:r>
            <a:r>
              <a:rPr lang="ko-KR" altLang="en-US" sz="1800" dirty="0">
                <a:latin typeface="Arial" panose="020B0604020202020204" pitchFamily="34" charset="0"/>
                <a:ea typeface="맑은 고딕" panose="020B0503020000020004" pitchFamily="50" charset="-127"/>
              </a:rPr>
              <a:t>하였으며</a:t>
            </a:r>
            <a:r>
              <a:rPr lang="en-US" altLang="ko-KR" sz="1800" dirty="0">
                <a:latin typeface="Arial" panose="020B0604020202020204" pitchFamily="34" charset="0"/>
                <a:ea typeface="맑은 고딕" panose="020B0503020000020004" pitchFamily="50" charset="-127"/>
              </a:rPr>
              <a:t>,</a:t>
            </a:r>
            <a:r>
              <a:rPr lang="ko-KR" altLang="en-US" sz="1800" dirty="0"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ko-KR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실험 결과</a:t>
            </a:r>
            <a:r>
              <a:rPr lang="en-US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ko-KR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제안한</a:t>
            </a:r>
            <a:r>
              <a:rPr lang="en-US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 Sequential DQN</a:t>
            </a:r>
            <a:r>
              <a:rPr lang="ko-KR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이</a:t>
            </a:r>
            <a:r>
              <a:rPr lang="en-US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 NDCG@10 </a:t>
            </a:r>
            <a:r>
              <a:rPr lang="ko-KR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기준으로</a:t>
            </a:r>
            <a:r>
              <a:rPr lang="en-US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 Random </a:t>
            </a:r>
            <a:r>
              <a:rPr lang="ko-KR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대비 유의미한 성능 향상을 보였으며</a:t>
            </a:r>
            <a:r>
              <a:rPr lang="en-US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 </a:t>
            </a:r>
            <a:r>
              <a:rPr lang="ko-KR" altLang="en-US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최적 알고리즘은 </a:t>
            </a:r>
            <a:r>
              <a:rPr lang="en-US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epsilon-greedy</a:t>
            </a:r>
            <a:r>
              <a:rPr lang="ko-KR" altLang="en-US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였다</a:t>
            </a:r>
            <a:r>
              <a:rPr lang="en-US" altLang="ko-KR" sz="1800" dirty="0">
                <a:effectLst/>
                <a:latin typeface="Arial" panose="020B0604020202020204" pitchFamily="34" charset="0"/>
                <a:ea typeface="맑은 고딕" panose="020B0503020000020004" pitchFamily="50" charset="-127"/>
              </a:rPr>
              <a:t>.</a:t>
            </a:r>
            <a:endParaRPr lang="ko-KR" altLang="ko-KR" sz="1800" dirty="0">
              <a:effectLst/>
              <a:latin typeface="Arial" panose="020B0604020202020204" pitchFamily="34" charset="0"/>
              <a:ea typeface="맑은 고딕" panose="020B0503020000020004" pitchFamily="50" charset="-127"/>
            </a:endParaRPr>
          </a:p>
          <a:p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50295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4B80AA-6184-2DA0-8634-5E1BBB16E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B60925-E97A-A038-FD19-84978837A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600" dirty="0"/>
              <a:t>현대의 여러 웹사이트에서 추천 시스템은 핵심 역할을 수행한다</a:t>
            </a:r>
            <a:r>
              <a:rPr lang="en-US" altLang="ko-KR" sz="1600" dirty="0"/>
              <a:t>. </a:t>
            </a:r>
            <a:r>
              <a:rPr lang="en-US" altLang="ko-KR" sz="1600" dirty="0" err="1"/>
              <a:t>Netfilx</a:t>
            </a:r>
            <a:r>
              <a:rPr lang="en-US" altLang="ko-KR" sz="1600" dirty="0"/>
              <a:t>, </a:t>
            </a:r>
            <a:r>
              <a:rPr lang="en-US" altLang="ko-KR" sz="1600" dirty="0" err="1"/>
              <a:t>Youtube</a:t>
            </a:r>
            <a:r>
              <a:rPr lang="en-US" altLang="ko-KR" sz="1600" dirty="0"/>
              <a:t>, Amazon </a:t>
            </a:r>
            <a:r>
              <a:rPr lang="ko-KR" altLang="en-US" sz="1600" dirty="0"/>
              <a:t>등 주요 서비스들은 사용자 맞춤형 추천을 통해 수익을 창출하고 있다</a:t>
            </a:r>
            <a:r>
              <a:rPr lang="en-US" altLang="ko-KR" sz="1600" dirty="0"/>
              <a:t>. </a:t>
            </a:r>
            <a:r>
              <a:rPr lang="ko-KR" altLang="en-US" sz="1600" dirty="0"/>
              <a:t>전통적인 추천 시스템은 협업 필터링이나 콘텐츠 기반 필터링에 의존하지만 이에 한계가 있다고 생각한다</a:t>
            </a:r>
            <a:r>
              <a:rPr lang="en-US" altLang="ko-KR" sz="1600" dirty="0"/>
              <a:t>. </a:t>
            </a:r>
            <a:r>
              <a:rPr lang="ko-KR" altLang="en-US" sz="1600" dirty="0"/>
              <a:t>먼저 탐험</a:t>
            </a:r>
            <a:r>
              <a:rPr lang="en-US" altLang="ko-KR" sz="1600" dirty="0"/>
              <a:t>-</a:t>
            </a:r>
            <a:r>
              <a:rPr lang="ko-KR" altLang="en-US" sz="1600" dirty="0"/>
              <a:t>활용 트레이드오프 문제가 있다</a:t>
            </a:r>
            <a:r>
              <a:rPr lang="en-US" altLang="ko-KR" sz="1600" dirty="0"/>
              <a:t>. </a:t>
            </a:r>
            <a:r>
              <a:rPr lang="ko-KR" altLang="en-US" sz="1600" dirty="0"/>
              <a:t>기존 방법은 사용자의 알려진 선호도에 기반해 추천하는 활용에 치중해 새로운 탐험을 고려하지 않는다</a:t>
            </a:r>
            <a:r>
              <a:rPr lang="en-US" altLang="ko-KR" sz="1600" dirty="0"/>
              <a:t>. </a:t>
            </a:r>
            <a:r>
              <a:rPr lang="ko-KR" altLang="en-US" sz="1600" dirty="0"/>
              <a:t>또한 사용자의 선호도는 시간에 따라 변하는데 전통적 방법은 이러한 시간적 의존성을 포착하지 못한다</a:t>
            </a:r>
            <a:r>
              <a:rPr lang="en-US" altLang="ko-KR" sz="1600" dirty="0"/>
              <a:t>. </a:t>
            </a:r>
            <a:r>
              <a:rPr lang="ko-KR" altLang="en-US" sz="1600" dirty="0"/>
              <a:t>마지막으로 추천 결과에 대한 사용자 피드백을 반영하는 온라인 학습이 부족하다</a:t>
            </a:r>
            <a:r>
              <a:rPr lang="en-US" altLang="ko-KR" sz="1600" dirty="0"/>
              <a:t>.</a:t>
            </a:r>
          </a:p>
          <a:p>
            <a:r>
              <a:rPr lang="en-US" altLang="ko-KR" sz="1600" dirty="0"/>
              <a:t> </a:t>
            </a:r>
            <a:r>
              <a:rPr lang="ko-KR" altLang="en-US" sz="1600" dirty="0"/>
              <a:t>이러한 문제들을 해결하기 위해 강화학습을 적용해보았다</a:t>
            </a:r>
            <a:r>
              <a:rPr lang="en-US" altLang="ko-KR" sz="1600" dirty="0"/>
              <a:t>. </a:t>
            </a:r>
            <a:r>
              <a:rPr lang="ko-KR" altLang="en-US" sz="1600" dirty="0"/>
              <a:t>에이전트가 환경과 상호작용하며 보상을 최대화하는 강화학습은 추천 시스템과 매우 적합하다고 생각한다</a:t>
            </a:r>
            <a:r>
              <a:rPr lang="en-US" altLang="ko-KR" sz="1600" dirty="0"/>
              <a:t>. </a:t>
            </a:r>
            <a:r>
              <a:rPr lang="ko-KR" altLang="en-US" sz="1600" dirty="0"/>
              <a:t>사용자에게 </a:t>
            </a:r>
            <a:r>
              <a:rPr lang="en-US" altLang="ko-KR" sz="1600" dirty="0"/>
              <a:t>action</a:t>
            </a:r>
            <a:r>
              <a:rPr lang="ko-KR" altLang="en-US" sz="1600" dirty="0"/>
              <a:t>을 추천하고 </a:t>
            </a:r>
            <a:r>
              <a:rPr lang="en-US" altLang="ko-KR" sz="1600" dirty="0"/>
              <a:t>reward</a:t>
            </a:r>
            <a:r>
              <a:rPr lang="ko-KR" altLang="en-US" sz="1600" dirty="0"/>
              <a:t>를 분석하여 </a:t>
            </a:r>
            <a:r>
              <a:rPr lang="en-US" altLang="ko-KR" sz="1600" dirty="0"/>
              <a:t>Policy update</a:t>
            </a:r>
            <a:r>
              <a:rPr lang="ko-KR" altLang="en-US" sz="1600" dirty="0"/>
              <a:t>를 하는 과정이 강화학습의 기본 구조이기 때문이다</a:t>
            </a:r>
            <a:r>
              <a:rPr lang="en-US" altLang="ko-KR" sz="1600" dirty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7907176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9FD436-EFBC-B824-1051-5AEA01F9F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연구 목표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A73559D-4BEC-0A13-AE70-7B7BF6B46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추천 시스템을 </a:t>
            </a:r>
            <a:r>
              <a:rPr lang="en-US" altLang="ko-KR" sz="2000" dirty="0"/>
              <a:t>Contextual Bandit</a:t>
            </a:r>
            <a:r>
              <a:rPr lang="ko-KR" altLang="en-US" sz="2000" dirty="0"/>
              <a:t>으로 정의하고 </a:t>
            </a:r>
            <a:r>
              <a:rPr lang="en-US" altLang="ko-KR" sz="2000" dirty="0"/>
              <a:t>State, Action, Reward</a:t>
            </a:r>
            <a:r>
              <a:rPr lang="ko-KR" altLang="en-US" sz="2000" dirty="0"/>
              <a:t>를 설계한다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Random, Epsilon-greedy, Thompson Sampling, Sequential DQN</a:t>
            </a:r>
            <a:r>
              <a:rPr lang="ko-KR" altLang="en-US" sz="2000" dirty="0"/>
              <a:t>의 강화학습 알고리즘을 구현하고 비교 분석한다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Grid-Search</a:t>
            </a:r>
            <a:r>
              <a:rPr lang="ko-KR" altLang="en-US" sz="2000" dirty="0"/>
              <a:t>를 통한 </a:t>
            </a:r>
            <a:r>
              <a:rPr lang="ko-KR" altLang="en-US" sz="2000" dirty="0" err="1"/>
              <a:t>하이퍼파라미터</a:t>
            </a:r>
            <a:r>
              <a:rPr lang="ko-KR" altLang="en-US" sz="2000" dirty="0"/>
              <a:t> 튜닝으로 각 알고리즘의 최적 설정을 탐색한다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다중 </a:t>
            </a:r>
            <a:r>
              <a:rPr lang="ko-KR" altLang="en-US" sz="2000" dirty="0" err="1"/>
              <a:t>시드</a:t>
            </a:r>
            <a:r>
              <a:rPr lang="ko-KR" altLang="en-US" sz="2000" dirty="0"/>
              <a:t> 실험을 통하여 결과의 신뢰성을 확보한다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TMDB API</a:t>
            </a:r>
            <a:r>
              <a:rPr lang="ko-KR" altLang="en-US" sz="2000" dirty="0"/>
              <a:t>를 연동해 실용적인 영화 추천 서비스를 구현한다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2587595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AD1BCE-4AE5-A283-A4EC-AC024102D6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알고리즘</a:t>
            </a:r>
            <a:r>
              <a:rPr lang="en-US" altLang="ko-KR" dirty="0"/>
              <a:t> </a:t>
            </a:r>
            <a:r>
              <a:rPr lang="ko-KR" altLang="en-US" dirty="0"/>
              <a:t>기반 추천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F8C2C50-A482-CFC9-D08A-FD17E55F5F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sz="2000" dirty="0"/>
              <a:t>DQN</a:t>
            </a:r>
            <a:r>
              <a:rPr lang="ko-KR" altLang="en-US" sz="2000" dirty="0"/>
              <a:t>은 심층 강화학습 알고리즘으로</a:t>
            </a:r>
            <a:r>
              <a:rPr lang="en-US" altLang="ko-KR" sz="2000" dirty="0"/>
              <a:t>, Atari </a:t>
            </a:r>
            <a:r>
              <a:rPr lang="ko-KR" altLang="en-US" sz="2000" dirty="0"/>
              <a:t>게임에서 인간 수준의 성능을 달성해 큰 주목을 받았다</a:t>
            </a:r>
            <a:r>
              <a:rPr lang="en-US" altLang="ko-KR" sz="2000" dirty="0"/>
              <a:t>. DQN</a:t>
            </a:r>
            <a:r>
              <a:rPr lang="ko-KR" altLang="en-US" sz="2000" dirty="0"/>
              <a:t>은 </a:t>
            </a:r>
            <a:r>
              <a:rPr lang="en-US" altLang="ko-KR" sz="2000" dirty="0"/>
              <a:t>Q </a:t>
            </a:r>
            <a:r>
              <a:rPr lang="ko-KR" altLang="en-US" sz="2000" dirty="0"/>
              <a:t>함수를 신경망으로 근사해 </a:t>
            </a:r>
            <a:r>
              <a:rPr lang="en-US" altLang="ko-KR" sz="2000" dirty="0"/>
              <a:t>Experience Replay</a:t>
            </a:r>
            <a:r>
              <a:rPr lang="ko-KR" altLang="en-US" sz="2000" dirty="0"/>
              <a:t>와 </a:t>
            </a:r>
            <a:r>
              <a:rPr lang="en-US" altLang="ko-KR" sz="2000" dirty="0"/>
              <a:t>Target Network</a:t>
            </a:r>
            <a:r>
              <a:rPr lang="ko-KR" altLang="en-US" sz="2000" dirty="0"/>
              <a:t>를 통해 학습 안정성을 확보한다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Sequential Recommendation</a:t>
            </a:r>
            <a:r>
              <a:rPr lang="ko-KR" altLang="en-US" sz="2000" dirty="0"/>
              <a:t>은 사용자의 연속적인 행동을 모델링해 다음 </a:t>
            </a:r>
            <a:r>
              <a:rPr lang="en-US" altLang="ko-KR" sz="2000" dirty="0"/>
              <a:t>action</a:t>
            </a:r>
            <a:r>
              <a:rPr lang="ko-KR" altLang="en-US" sz="2000" dirty="0"/>
              <a:t>을 예측하는 알고리즘이다</a:t>
            </a:r>
            <a:r>
              <a:rPr lang="en-US" altLang="ko-KR" sz="2000" dirty="0"/>
              <a:t>. </a:t>
            </a:r>
            <a:r>
              <a:rPr lang="ko-KR" altLang="en-US" sz="2000" dirty="0"/>
              <a:t>이 프로젝트에서는 이러한 </a:t>
            </a:r>
            <a:r>
              <a:rPr lang="en-US" altLang="ko-KR" sz="2000" dirty="0"/>
              <a:t>Sequential DQN</a:t>
            </a:r>
            <a:r>
              <a:rPr lang="ko-KR" altLang="en-US" sz="2000" dirty="0"/>
              <a:t>의 아이디어와 강화학습을 결합한 것이다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998922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DAC14EA-0185-2774-7867-FE5F9164C0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851D886-2B53-8E93-E42E-19E4B1C7BF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프로젝트의 데이터셋은 </a:t>
            </a:r>
            <a:r>
              <a:rPr lang="en-US" altLang="ko-KR" dirty="0" err="1"/>
              <a:t>MovieLens</a:t>
            </a:r>
            <a:r>
              <a:rPr lang="en-US" altLang="ko-KR" dirty="0"/>
              <a:t> Latest Small </a:t>
            </a:r>
            <a:r>
              <a:rPr lang="ko-KR" altLang="en-US" dirty="0"/>
              <a:t>데이터셋을 활용하였다</a:t>
            </a:r>
            <a:r>
              <a:rPr lang="en-US" altLang="ko-KR" dirty="0"/>
              <a:t>. </a:t>
            </a:r>
            <a:r>
              <a:rPr lang="en-US" altLang="ko-KR" dirty="0" err="1"/>
              <a:t>MovieLens</a:t>
            </a:r>
            <a:r>
              <a:rPr lang="ko-KR" altLang="en-US" dirty="0"/>
              <a:t>는 영화 추천을 </a:t>
            </a:r>
            <a:r>
              <a:rPr lang="en-US" altLang="ko-KR" dirty="0"/>
              <a:t>1997</a:t>
            </a:r>
            <a:r>
              <a:rPr lang="ko-KR" altLang="en-US" dirty="0"/>
              <a:t>년부터 운영한 플랫폼으로 추천 시스템 연구에서 가장 널리 사용되는 벤치마크 중 하나이다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원시 데이터에 다음과 같은 </a:t>
            </a:r>
            <a:r>
              <a:rPr lang="ko-KR" altLang="en-US" dirty="0" err="1"/>
              <a:t>전처리</a:t>
            </a:r>
            <a:r>
              <a:rPr lang="ko-KR" altLang="en-US" dirty="0"/>
              <a:t> 과정을 수행하였다</a:t>
            </a:r>
            <a:r>
              <a:rPr lang="en-US" altLang="ko-KR" dirty="0"/>
              <a:t>. </a:t>
            </a:r>
            <a:r>
              <a:rPr lang="ko-KR" altLang="en-US" dirty="0"/>
              <a:t>우선 최소 평점 수 기준으로 사용자와 영화를 필터링하였다</a:t>
            </a:r>
            <a:r>
              <a:rPr lang="en-US" altLang="ko-KR" dirty="0"/>
              <a:t>. 20</a:t>
            </a:r>
            <a:r>
              <a:rPr lang="ko-KR" altLang="en-US" dirty="0"/>
              <a:t>개 이상의 평점을 가진 사용자</a:t>
            </a:r>
            <a:r>
              <a:rPr lang="en-US" altLang="ko-KR" dirty="0"/>
              <a:t>(</a:t>
            </a:r>
            <a:r>
              <a:rPr lang="en-US" altLang="ko-KR" dirty="0" err="1"/>
              <a:t>min_user_ratings</a:t>
            </a:r>
            <a:r>
              <a:rPr lang="en-US" altLang="ko-KR" dirty="0"/>
              <a:t>)</a:t>
            </a:r>
            <a:r>
              <a:rPr lang="ko-KR" altLang="en-US" dirty="0"/>
              <a:t>와 </a:t>
            </a:r>
            <a:r>
              <a:rPr lang="en-US" altLang="ko-KR" dirty="0"/>
              <a:t>10</a:t>
            </a:r>
            <a:r>
              <a:rPr lang="ko-KR" altLang="en-US" dirty="0"/>
              <a:t>개 이상의 평점을 받은 영화</a:t>
            </a:r>
            <a:r>
              <a:rPr lang="en-US" altLang="ko-KR" dirty="0"/>
              <a:t>(</a:t>
            </a:r>
            <a:r>
              <a:rPr lang="en-US" altLang="ko-KR" dirty="0" err="1"/>
              <a:t>min_movie_ratings</a:t>
            </a:r>
            <a:r>
              <a:rPr lang="en-US" altLang="ko-KR" dirty="0"/>
              <a:t>)</a:t>
            </a:r>
            <a:r>
              <a:rPr lang="ko-KR" altLang="en-US" dirty="0"/>
              <a:t>만을 포함하였다</a:t>
            </a:r>
            <a:r>
              <a:rPr lang="en-US" altLang="ko-KR" dirty="0"/>
              <a:t>. </a:t>
            </a:r>
            <a:r>
              <a:rPr lang="ko-KR" altLang="en-US" dirty="0"/>
              <a:t>이후 강화학습의 보상을 만들기 위해 평점을 이진 레이블로 사용하였다</a:t>
            </a:r>
            <a:r>
              <a:rPr lang="en-US" altLang="ko-KR" dirty="0"/>
              <a:t>. 4</a:t>
            </a:r>
            <a:r>
              <a:rPr lang="ko-KR" altLang="en-US" dirty="0"/>
              <a:t>점 이상의 평점을 </a:t>
            </a:r>
            <a:r>
              <a:rPr lang="en-US" altLang="ko-KR" dirty="0"/>
              <a:t>liked(1</a:t>
            </a:r>
            <a:r>
              <a:rPr lang="ko-KR" altLang="en-US" dirty="0"/>
              <a:t>점</a:t>
            </a:r>
            <a:r>
              <a:rPr lang="en-US" altLang="ko-KR" dirty="0"/>
              <a:t>) </a:t>
            </a:r>
            <a:r>
              <a:rPr lang="ko-KR" altLang="en-US" dirty="0"/>
              <a:t>미만을 </a:t>
            </a:r>
            <a:r>
              <a:rPr lang="en-US" altLang="ko-KR" dirty="0"/>
              <a:t>not liked(0</a:t>
            </a:r>
            <a:r>
              <a:rPr lang="ko-KR" altLang="en-US" dirty="0"/>
              <a:t>점</a:t>
            </a:r>
            <a:r>
              <a:rPr lang="en-US" altLang="ko-KR" dirty="0"/>
              <a:t>)</a:t>
            </a:r>
            <a:r>
              <a:rPr lang="ko-KR" altLang="en-US" dirty="0"/>
              <a:t>으로</a:t>
            </a:r>
            <a:r>
              <a:rPr lang="en-US" altLang="ko-KR" dirty="0"/>
              <a:t> </a:t>
            </a:r>
            <a:r>
              <a:rPr lang="ko-KR" altLang="en-US" dirty="0"/>
              <a:t>변환하여 사용하였다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장르의 구분은 </a:t>
            </a:r>
            <a:r>
              <a:rPr lang="en-US" altLang="ko-KR" dirty="0"/>
              <a:t>One-hot encoding</a:t>
            </a:r>
            <a:r>
              <a:rPr lang="ko-KR" altLang="en-US" dirty="0"/>
              <a:t>을 통하여 수행하였다</a:t>
            </a:r>
            <a:r>
              <a:rPr lang="en-US" altLang="ko-KR" dirty="0"/>
              <a:t>. </a:t>
            </a:r>
            <a:r>
              <a:rPr lang="ko-KR" altLang="en-US" dirty="0"/>
              <a:t>한 영화가 여러 장르에 속하는 경우가 필연적이므로 </a:t>
            </a:r>
            <a:r>
              <a:rPr lang="en-US" altLang="ko-KR" dirty="0"/>
              <a:t>Multi-hot encoding</a:t>
            </a:r>
            <a:r>
              <a:rPr lang="ko-KR" altLang="en-US" dirty="0"/>
              <a:t>을 적용하였다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데이터셋에서 가장 고려해야 할 점은 시간적인 측면이었다</a:t>
            </a:r>
            <a:r>
              <a:rPr lang="en-US" altLang="ko-KR" dirty="0"/>
              <a:t>. </a:t>
            </a:r>
            <a:r>
              <a:rPr lang="ko-KR" altLang="en-US" dirty="0"/>
              <a:t>랜덤 분할을 한다면 미래의 정보를 학습에 사용해 이상치를 가져온다</a:t>
            </a:r>
            <a:r>
              <a:rPr lang="en-US" altLang="ko-KR" dirty="0"/>
              <a:t>. </a:t>
            </a:r>
            <a:r>
              <a:rPr lang="ko-KR" altLang="en-US" dirty="0"/>
              <a:t>실제 서비스에서는 과거 데이터만으로 사용자 행동을 예측해야 한다</a:t>
            </a:r>
            <a:r>
              <a:rPr lang="en-US" altLang="ko-KR" dirty="0"/>
              <a:t>. </a:t>
            </a:r>
            <a:r>
              <a:rPr lang="ko-KR" altLang="en-US" dirty="0"/>
              <a:t>그러므로 각 사용자를 시간순으로 정렬하고 </a:t>
            </a:r>
            <a:r>
              <a:rPr lang="en-US" altLang="ko-KR" dirty="0"/>
              <a:t>Train-Test </a:t>
            </a:r>
            <a:r>
              <a:rPr lang="ko-KR" altLang="en-US" dirty="0"/>
              <a:t>데이터셋을 만들었다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53567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D91FD6-5EBD-CB90-2B81-34058461F8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State, </a:t>
            </a:r>
            <a:r>
              <a:rPr lang="en-US" altLang="ko-KR" dirty="0" err="1"/>
              <a:t>Aciton</a:t>
            </a:r>
            <a:r>
              <a:rPr lang="en-US" altLang="ko-KR" dirty="0"/>
              <a:t>, Reward </a:t>
            </a:r>
            <a:r>
              <a:rPr lang="ko-KR" altLang="en-US" dirty="0"/>
              <a:t>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0A74E5A-369E-B1BC-423D-3655A82F8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1843548"/>
            <a:ext cx="10058400" cy="2456647"/>
          </a:xfrm>
        </p:spPr>
        <p:txBody>
          <a:bodyPr>
            <a:normAutofit fontScale="70000" lnSpcReduction="20000"/>
          </a:bodyPr>
          <a:lstStyle/>
          <a:p>
            <a:r>
              <a:rPr lang="en-US" altLang="ko-KR" sz="2600" dirty="0"/>
              <a:t>State</a:t>
            </a:r>
            <a:r>
              <a:rPr lang="ko-KR" altLang="en-US" sz="2600" dirty="0"/>
              <a:t>는 현재 사용자의 상태로 추천 결정에 필요한 모든 정보를 포함해야 한다</a:t>
            </a:r>
            <a:r>
              <a:rPr lang="en-US" altLang="ko-KR" sz="2600" dirty="0"/>
              <a:t>. </a:t>
            </a:r>
            <a:r>
              <a:rPr lang="ko-KR" altLang="en-US" sz="2600" dirty="0"/>
              <a:t>필요한 정보는 다음과 같다</a:t>
            </a:r>
            <a:r>
              <a:rPr lang="en-US" altLang="ko-KR" sz="2600" dirty="0"/>
              <a:t>.</a:t>
            </a:r>
          </a:p>
          <a:p>
            <a:pPr lvl="1"/>
            <a:r>
              <a:rPr lang="en-US" altLang="ko-KR" sz="2600" dirty="0"/>
              <a:t>User Embedding - Truncated</a:t>
            </a:r>
            <a:r>
              <a:rPr lang="ko-KR" altLang="en-US" sz="2600" dirty="0"/>
              <a:t> </a:t>
            </a:r>
            <a:r>
              <a:rPr lang="en-US" altLang="ko-KR" sz="2600" dirty="0"/>
              <a:t>SVD</a:t>
            </a:r>
            <a:r>
              <a:rPr lang="ko-KR" altLang="en-US" sz="2600" dirty="0"/>
              <a:t>를 사용해 </a:t>
            </a:r>
            <a:r>
              <a:rPr lang="en-US" altLang="ko-KR" sz="2600" dirty="0"/>
              <a:t>user-action </a:t>
            </a:r>
            <a:r>
              <a:rPr lang="ko-KR" altLang="en-US" sz="2600" dirty="0"/>
              <a:t>상호작용을 분해하고 각 사용자에 대해 잠재 벡터를 추출하였다</a:t>
            </a:r>
            <a:r>
              <a:rPr lang="en-US" altLang="ko-KR" sz="2600" dirty="0"/>
              <a:t>. </a:t>
            </a:r>
            <a:r>
              <a:rPr lang="ko-KR" altLang="en-US" sz="2600" dirty="0"/>
              <a:t>이 벡터들은 사용자의 전반적인 취향과 영화의 특성을 표현한다</a:t>
            </a:r>
            <a:r>
              <a:rPr lang="en-US" altLang="ko-KR" sz="2600" dirty="0"/>
              <a:t>.</a:t>
            </a:r>
          </a:p>
          <a:p>
            <a:pPr lvl="1"/>
            <a:r>
              <a:rPr lang="en-US" altLang="ko-KR" sz="2600" dirty="0"/>
              <a:t>Sequence</a:t>
            </a:r>
            <a:r>
              <a:rPr lang="ko-KR" altLang="en-US" sz="2600" dirty="0"/>
              <a:t> </a:t>
            </a:r>
            <a:r>
              <a:rPr lang="en-US" altLang="ko-KR" sz="2600" dirty="0"/>
              <a:t>Embedding</a:t>
            </a:r>
            <a:r>
              <a:rPr lang="ko-KR" altLang="en-US" sz="2600" dirty="0"/>
              <a:t> </a:t>
            </a:r>
            <a:r>
              <a:rPr lang="en-US" altLang="ko-KR" sz="2600" dirty="0"/>
              <a:t>-</a:t>
            </a:r>
            <a:r>
              <a:rPr lang="ko-KR" altLang="en-US" sz="2600" dirty="0"/>
              <a:t> 최근 시청한 </a:t>
            </a:r>
            <a:r>
              <a:rPr lang="en-US" altLang="ko-KR" sz="2600" dirty="0"/>
              <a:t>10</a:t>
            </a:r>
            <a:r>
              <a:rPr lang="ko-KR" altLang="en-US" sz="2600" dirty="0"/>
              <a:t>개 영화의 시퀀스를 가져야 한다</a:t>
            </a:r>
            <a:r>
              <a:rPr lang="en-US" altLang="ko-KR" sz="2600" dirty="0"/>
              <a:t>. </a:t>
            </a:r>
            <a:r>
              <a:rPr lang="ko-KR" altLang="en-US" sz="2600" dirty="0"/>
              <a:t>각 영화는 </a:t>
            </a:r>
            <a:r>
              <a:rPr lang="en-US" altLang="ko-KR" sz="2600" dirty="0"/>
              <a:t>SVD</a:t>
            </a:r>
            <a:r>
              <a:rPr lang="ko-KR" altLang="en-US" sz="2600" dirty="0"/>
              <a:t>로 추출하였고 </a:t>
            </a:r>
            <a:r>
              <a:rPr lang="en-US" altLang="ko-KR" sz="2600" dirty="0"/>
              <a:t>LSTM</a:t>
            </a:r>
            <a:r>
              <a:rPr lang="ko-KR" altLang="en-US" sz="2600" dirty="0"/>
              <a:t>로 처리해 사용자의 최근 관심사와 시청 패턴을 포착한다</a:t>
            </a:r>
            <a:r>
              <a:rPr lang="en-US" altLang="ko-KR" sz="2600" dirty="0"/>
              <a:t>.</a:t>
            </a:r>
          </a:p>
          <a:p>
            <a:pPr lvl="1"/>
            <a:r>
              <a:rPr lang="ko-KR" altLang="en-US" sz="2600" dirty="0"/>
              <a:t>또한 최근 시청한 </a:t>
            </a:r>
            <a:r>
              <a:rPr lang="en-US" altLang="ko-KR" sz="2600" dirty="0"/>
              <a:t>10</a:t>
            </a:r>
            <a:r>
              <a:rPr lang="ko-KR" altLang="en-US" sz="2600" dirty="0"/>
              <a:t>개 영화에 대한 반응을 포함한다</a:t>
            </a:r>
            <a:r>
              <a:rPr lang="en-US" altLang="ko-KR" sz="2600" dirty="0"/>
              <a:t>. </a:t>
            </a:r>
            <a:r>
              <a:rPr lang="ko-KR" altLang="en-US" sz="2600" dirty="0"/>
              <a:t>이 정보는 시퀀스 </a:t>
            </a:r>
            <a:r>
              <a:rPr lang="ko-KR" altLang="en-US" sz="2600" dirty="0" err="1"/>
              <a:t>임베딩과</a:t>
            </a:r>
            <a:r>
              <a:rPr lang="ko-KR" altLang="en-US" sz="2600" dirty="0"/>
              <a:t> 연결해 </a:t>
            </a:r>
            <a:r>
              <a:rPr lang="en-US" altLang="ko-KR" sz="2600" dirty="0"/>
              <a:t>LSTM</a:t>
            </a:r>
            <a:r>
              <a:rPr lang="ko-KR" altLang="en-US" sz="2600" dirty="0"/>
              <a:t>에 입력된다</a:t>
            </a:r>
            <a:r>
              <a:rPr lang="en-US" altLang="ko-KR" sz="2600" dirty="0"/>
              <a:t>.</a:t>
            </a:r>
          </a:p>
          <a:p>
            <a:pPr lvl="1"/>
            <a:endParaRPr lang="en-US" altLang="ko-KR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F6813B1-8E8E-DD0A-624B-64F3038B5A6E}"/>
              </a:ext>
            </a:extLst>
          </p:cNvPr>
          <p:cNvSpPr txBox="1">
            <a:spLocks/>
          </p:cNvSpPr>
          <p:nvPr/>
        </p:nvSpPr>
        <p:spPr>
          <a:xfrm>
            <a:off x="1066800" y="4300195"/>
            <a:ext cx="10058400" cy="27274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1" hangingPunct="1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5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1pPr>
            <a:lvl2pPr marL="457200" indent="-18288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3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2pPr>
            <a:lvl3pPr marL="731520" indent="-18288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3pPr>
            <a:lvl4pPr marL="1005840" indent="-18288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4pPr>
            <a:lvl5pPr marL="1280160" indent="-18288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200" kern="1200">
                <a:solidFill>
                  <a:schemeClr val="tx1"/>
                </a:solidFill>
                <a:latin typeface="+mj-ea"/>
                <a:ea typeface="+mj-ea"/>
                <a:cs typeface="+mn-cs"/>
              </a:defRPr>
            </a:lvl5pPr>
            <a:lvl6pPr marL="1600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900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200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500000" indent="-228600" algn="l" defTabSz="914400" rtl="0" eaLnBrk="1" latinLnBrk="1" hangingPunct="1">
              <a:lnSpc>
                <a:spcPct val="100000"/>
              </a:lnSpc>
              <a:spcBef>
                <a:spcPts val="500"/>
              </a:spcBef>
              <a:buClr>
                <a:schemeClr val="tx1">
                  <a:lumMod val="85000"/>
                  <a:lumOff val="15000"/>
                </a:schemeClr>
              </a:buClr>
              <a:buFont typeface="Garamond" pitchFamily="18" charset="0"/>
              <a:buChar char="◦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800" dirty="0"/>
              <a:t>Action</a:t>
            </a:r>
            <a:r>
              <a:rPr lang="ko-KR" altLang="en-US" sz="1800" dirty="0"/>
              <a:t>은 추천할 영화를 선택하는 것이다</a:t>
            </a:r>
            <a:r>
              <a:rPr lang="en-US" altLang="ko-KR" sz="1800" dirty="0"/>
              <a:t>. </a:t>
            </a:r>
            <a:r>
              <a:rPr lang="ko-KR" altLang="en-US" sz="1800" dirty="0"/>
              <a:t>전체 영화에서 사용자가 이미 시청한 영화를 제외하고 추천한다</a:t>
            </a:r>
            <a:r>
              <a:rPr lang="en-US" altLang="ko-KR" sz="1800" dirty="0"/>
              <a:t>. </a:t>
            </a:r>
            <a:r>
              <a:rPr lang="ko-KR" altLang="en-US" sz="1800" dirty="0"/>
              <a:t>계산 효율성을 위해 각 </a:t>
            </a:r>
            <a:r>
              <a:rPr lang="en-US" altLang="ko-KR" sz="1800" dirty="0"/>
              <a:t>Step</a:t>
            </a:r>
            <a:r>
              <a:rPr lang="ko-KR" altLang="en-US" sz="1800" dirty="0"/>
              <a:t>에서 </a:t>
            </a:r>
            <a:r>
              <a:rPr lang="en-US" altLang="ko-KR" sz="1800" dirty="0"/>
              <a:t>50</a:t>
            </a:r>
            <a:r>
              <a:rPr lang="ko-KR" altLang="en-US" sz="1800" dirty="0"/>
              <a:t>개의 영화를 랜덤 샘플링해 후보를 만든다</a:t>
            </a:r>
            <a:r>
              <a:rPr lang="en-US" altLang="ko-KR" sz="1800" dirty="0"/>
              <a:t>. </a:t>
            </a:r>
            <a:r>
              <a:rPr lang="ko-KR" altLang="en-US" sz="1800" dirty="0"/>
              <a:t>이 집합에서 알고리즘이 최적의 영화를 선택한다</a:t>
            </a:r>
            <a:r>
              <a:rPr lang="en-US" altLang="ko-KR" sz="1800" dirty="0"/>
              <a:t>.</a:t>
            </a:r>
          </a:p>
          <a:p>
            <a:r>
              <a:rPr lang="en-US" altLang="ko-KR" sz="1800" dirty="0"/>
              <a:t>Reward</a:t>
            </a:r>
            <a:r>
              <a:rPr lang="ko-KR" altLang="en-US" sz="1800" dirty="0"/>
              <a:t>는 추천된 영화에 사용자의 반응이다</a:t>
            </a:r>
            <a:r>
              <a:rPr lang="en-US" altLang="ko-KR" sz="1800" dirty="0"/>
              <a:t>. </a:t>
            </a:r>
            <a:r>
              <a:rPr lang="ko-KR" altLang="en-US" sz="1800" dirty="0"/>
              <a:t>해당 영화에 평점이 </a:t>
            </a:r>
            <a:r>
              <a:rPr lang="en-US" altLang="ko-KR" sz="1800" dirty="0"/>
              <a:t>4</a:t>
            </a:r>
            <a:r>
              <a:rPr lang="ko-KR" altLang="en-US" sz="1800" dirty="0"/>
              <a:t>점 이상이면 </a:t>
            </a:r>
            <a:r>
              <a:rPr lang="en-US" altLang="ko-KR" sz="1800" dirty="0"/>
              <a:t>1, </a:t>
            </a:r>
            <a:r>
              <a:rPr lang="ko-KR" altLang="en-US" sz="1800" dirty="0"/>
              <a:t>아니면 </a:t>
            </a:r>
            <a:r>
              <a:rPr lang="en-US" altLang="ko-KR" sz="1800" dirty="0"/>
              <a:t>0. </a:t>
            </a:r>
            <a:r>
              <a:rPr lang="ko-KR" altLang="en-US" sz="1800" dirty="0"/>
              <a:t>이때 해당 영화에 대한 평점이 없다면 </a:t>
            </a:r>
            <a:r>
              <a:rPr lang="en-US" altLang="ko-KR" sz="1800" dirty="0"/>
              <a:t>SVD </a:t>
            </a:r>
            <a:r>
              <a:rPr lang="ko-KR" altLang="en-US" sz="1800" dirty="0"/>
              <a:t>예측 점수를 통해 보상을 추정한다</a:t>
            </a:r>
            <a:r>
              <a:rPr lang="en-US" altLang="ko-KR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550287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CB0B04-7D4E-8708-D4BE-89FA5D219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실험 설정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0E19BC-7159-8DB4-78C7-A1DAE05153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1800" dirty="0"/>
              <a:t>실험 환경은 </a:t>
            </a:r>
            <a:r>
              <a:rPr lang="en-US" altLang="ko-KR" sz="1800" dirty="0"/>
              <a:t>Google </a:t>
            </a:r>
            <a:r>
              <a:rPr lang="en-US" altLang="ko-KR" sz="1800" dirty="0" err="1"/>
              <a:t>Colab</a:t>
            </a:r>
            <a:r>
              <a:rPr lang="ko-KR" altLang="en-US" sz="1800" dirty="0"/>
              <a:t>에서 수행하였다</a:t>
            </a:r>
            <a:r>
              <a:rPr lang="en-US" altLang="ko-KR" sz="1800" dirty="0"/>
              <a:t>.</a:t>
            </a:r>
            <a:r>
              <a:rPr lang="ko-KR" altLang="en-US" sz="1800" dirty="0"/>
              <a:t> </a:t>
            </a:r>
            <a:r>
              <a:rPr lang="en-US" altLang="ko-KR" sz="1800" dirty="0" err="1"/>
              <a:t>Colab</a:t>
            </a:r>
            <a:r>
              <a:rPr lang="ko-KR" altLang="en-US" sz="1800" dirty="0"/>
              <a:t>에서 제공하는 무료 </a:t>
            </a:r>
            <a:r>
              <a:rPr lang="en-US" altLang="ko-KR" sz="1800" dirty="0"/>
              <a:t>GPU</a:t>
            </a:r>
            <a:r>
              <a:rPr lang="ko-KR" altLang="en-US" sz="1800" dirty="0"/>
              <a:t>를 활용하였다</a:t>
            </a:r>
            <a:r>
              <a:rPr lang="en-US" altLang="ko-KR" sz="1800" dirty="0"/>
              <a:t>. </a:t>
            </a:r>
            <a:r>
              <a:rPr lang="en-US" altLang="ko-KR" sz="1800" dirty="0" err="1"/>
              <a:t>PyTorch</a:t>
            </a:r>
            <a:r>
              <a:rPr lang="ko-KR" altLang="en-US" sz="1800" dirty="0"/>
              <a:t> </a:t>
            </a:r>
            <a:r>
              <a:rPr lang="en-US" altLang="ko-KR" sz="1800" dirty="0"/>
              <a:t>2.0,</a:t>
            </a:r>
            <a:r>
              <a:rPr lang="ko-KR" altLang="en-US" sz="1800" dirty="0"/>
              <a:t> </a:t>
            </a:r>
            <a:r>
              <a:rPr lang="en-US" altLang="ko-KR" sz="1800" dirty="0"/>
              <a:t>Python 3.1</a:t>
            </a:r>
            <a:r>
              <a:rPr lang="ko-KR" altLang="en-US" sz="1800" dirty="0"/>
              <a:t>을 사용하였다</a:t>
            </a:r>
            <a:r>
              <a:rPr lang="en-US" altLang="ko-KR" sz="1800" dirty="0"/>
              <a:t>.</a:t>
            </a:r>
          </a:p>
          <a:p>
            <a:r>
              <a:rPr lang="ko-KR" altLang="en-US" sz="1800" dirty="0"/>
              <a:t>추천 시스템 평가를 위한 네 가지 지표를 사용하였다</a:t>
            </a:r>
            <a:r>
              <a:rPr lang="en-US" altLang="ko-KR" sz="1800" dirty="0"/>
              <a:t>.</a:t>
            </a:r>
          </a:p>
          <a:p>
            <a:pPr lvl="1"/>
            <a:r>
              <a:rPr lang="en-US" altLang="ko-KR" sz="1800" dirty="0"/>
              <a:t>Hit Rate(HR) – </a:t>
            </a:r>
            <a:r>
              <a:rPr lang="ko-KR" altLang="en-US" sz="1800" dirty="0"/>
              <a:t>상위 </a:t>
            </a:r>
            <a:r>
              <a:rPr lang="en-US" altLang="ko-KR" sz="1800" dirty="0"/>
              <a:t>K</a:t>
            </a:r>
            <a:r>
              <a:rPr lang="ko-KR" altLang="en-US" sz="1800" dirty="0"/>
              <a:t>개 추천 중 최소 하나라도 사용자가 좋아한 영화가 있는지 측정한다</a:t>
            </a:r>
            <a:r>
              <a:rPr lang="en-US" altLang="ko-KR" sz="1800" dirty="0"/>
              <a:t>.</a:t>
            </a:r>
          </a:p>
          <a:p>
            <a:pPr lvl="1"/>
            <a:r>
              <a:rPr lang="en-US" altLang="ko-KR" sz="1800" dirty="0"/>
              <a:t>Precision – </a:t>
            </a:r>
            <a:r>
              <a:rPr lang="ko-KR" altLang="en-US" sz="1800" dirty="0"/>
              <a:t>상위 </a:t>
            </a:r>
            <a:r>
              <a:rPr lang="en-US" altLang="ko-KR" sz="1800" dirty="0"/>
              <a:t>K</a:t>
            </a:r>
            <a:r>
              <a:rPr lang="ko-KR" altLang="en-US" sz="1800" dirty="0"/>
              <a:t>개 추천 중 실제로 사용자가 좋아한 영화의 비율이다</a:t>
            </a:r>
            <a:r>
              <a:rPr lang="en-US" altLang="ko-KR" sz="1800" dirty="0"/>
              <a:t>.</a:t>
            </a:r>
          </a:p>
          <a:p>
            <a:pPr lvl="1"/>
            <a:r>
              <a:rPr lang="en-US" altLang="ko-KR" sz="1800" dirty="0"/>
              <a:t>Recall – </a:t>
            </a:r>
            <a:r>
              <a:rPr lang="ko-KR" altLang="en-US" sz="1800" dirty="0"/>
              <a:t>사용자가 실제로 좋아한 전체 영화 중 상위 </a:t>
            </a:r>
            <a:r>
              <a:rPr lang="en-US" altLang="ko-KR" sz="1800" dirty="0"/>
              <a:t>K</a:t>
            </a:r>
            <a:r>
              <a:rPr lang="ko-KR" altLang="en-US" sz="1800" dirty="0"/>
              <a:t>개 추천에 포함된 비율이다</a:t>
            </a:r>
            <a:r>
              <a:rPr lang="en-US" altLang="ko-KR" sz="1800" dirty="0"/>
              <a:t>.</a:t>
            </a:r>
          </a:p>
          <a:p>
            <a:pPr lvl="1"/>
            <a:r>
              <a:rPr lang="en-US" altLang="ko-KR" sz="1800" dirty="0"/>
              <a:t>Normalized Discounted Cumulative(NDC) – </a:t>
            </a:r>
            <a:r>
              <a:rPr lang="ko-KR" altLang="en-US" sz="1800" dirty="0"/>
              <a:t>추천 순위의 품질을 측정하는 랭킹 지표이다</a:t>
            </a:r>
            <a:r>
              <a:rPr lang="en-US" altLang="ko-KR" sz="1800" dirty="0"/>
              <a:t>. </a:t>
            </a:r>
            <a:r>
              <a:rPr lang="ko-KR" altLang="en-US" sz="1800" dirty="0"/>
              <a:t>상위에 관련 영화가 위치할수록 높은 점수를 부여한다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1153638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4E68D6-DE3A-3F12-315F-57EC404B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하이퍼파라미터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77C096-3465-8D85-1EBC-466BF8EC4B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014194"/>
            <a:ext cx="10058400" cy="3849624"/>
          </a:xfrm>
        </p:spPr>
        <p:txBody>
          <a:bodyPr>
            <a:normAutofit/>
          </a:bodyPr>
          <a:lstStyle/>
          <a:p>
            <a:r>
              <a:rPr lang="en-US" altLang="ko-KR" sz="2000" dirty="0"/>
              <a:t>Grid </a:t>
            </a:r>
            <a:r>
              <a:rPr lang="en-US" altLang="ko-KR" sz="2000" dirty="0" err="1"/>
              <a:t>searc</a:t>
            </a:r>
            <a:r>
              <a:rPr lang="ko-KR" altLang="en-US" sz="2000" dirty="0"/>
              <a:t>를 통해 각 알고리즘의 파라미터를 튜닝하였다</a:t>
            </a:r>
            <a:r>
              <a:rPr lang="en-US" altLang="ko-KR" sz="2000" dirty="0"/>
              <a:t>. </a:t>
            </a:r>
            <a:r>
              <a:rPr lang="ko-KR" altLang="en-US" sz="2000" dirty="0"/>
              <a:t>각 설정에서 </a:t>
            </a:r>
            <a:r>
              <a:rPr lang="en-US" altLang="ko-KR" sz="2000" dirty="0"/>
              <a:t>100</a:t>
            </a:r>
            <a:r>
              <a:rPr lang="ko-KR" altLang="en-US" sz="2000" dirty="0"/>
              <a:t>명의 테스트 사용자에 대해 </a:t>
            </a:r>
            <a:r>
              <a:rPr lang="en-US" altLang="ko-KR" sz="2000" dirty="0"/>
              <a:t>NDC</a:t>
            </a:r>
            <a:r>
              <a:rPr lang="ko-KR" altLang="en-US" sz="2000" dirty="0"/>
              <a:t>를 측정하여 </a:t>
            </a:r>
            <a:r>
              <a:rPr lang="en-US" altLang="ko-KR" sz="2000" dirty="0"/>
              <a:t>0.01, 0.05, 0.1, 0.2, 0.3, 0.5 </a:t>
            </a:r>
            <a:r>
              <a:rPr lang="ko-KR" altLang="en-US" sz="2000" dirty="0"/>
              <a:t>중에서 </a:t>
            </a:r>
            <a:r>
              <a:rPr lang="en-US" altLang="ko-KR" sz="2000" dirty="0"/>
              <a:t>Epsilon</a:t>
            </a:r>
            <a:r>
              <a:rPr lang="ko-KR" altLang="en-US" sz="2000" dirty="0"/>
              <a:t>을 선택하였다</a:t>
            </a:r>
            <a:r>
              <a:rPr lang="en-US" altLang="ko-KR" sz="2000" dirty="0"/>
              <a:t>.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r>
              <a:rPr lang="en-US" altLang="ko-KR" sz="2000" dirty="0" err="1"/>
              <a:t>Hidden_dim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Lstm_hidden</a:t>
            </a:r>
            <a:r>
              <a:rPr lang="en-US" altLang="ko-KR" sz="2000" dirty="0"/>
              <a:t>, </a:t>
            </a:r>
            <a:r>
              <a:rPr lang="en-US" altLang="ko-KR" sz="2000" dirty="0" err="1"/>
              <a:t>learning_rate</a:t>
            </a:r>
            <a:r>
              <a:rPr lang="en-US" altLang="ko-KR" sz="2000" dirty="0"/>
              <a:t> </a:t>
            </a:r>
            <a:r>
              <a:rPr lang="ko-KR" altLang="en-US" sz="2000" dirty="0"/>
              <a:t>세 가지 </a:t>
            </a:r>
            <a:r>
              <a:rPr lang="ko-KR" altLang="en-US" sz="2000" dirty="0" err="1"/>
              <a:t>하이퍼파라미터</a:t>
            </a:r>
            <a:r>
              <a:rPr lang="ko-KR" altLang="en-US" sz="2000" dirty="0"/>
              <a:t> 조합으로 </a:t>
            </a:r>
            <a:r>
              <a:rPr lang="en-US" altLang="ko-KR" sz="2000" dirty="0"/>
              <a:t>Grid </a:t>
            </a:r>
            <a:r>
              <a:rPr lang="en-US" altLang="ko-KR" sz="2000" dirty="0" err="1"/>
              <a:t>searc</a:t>
            </a:r>
            <a:r>
              <a:rPr lang="ko-KR" altLang="en-US" sz="2000" dirty="0"/>
              <a:t>를 통해 </a:t>
            </a:r>
            <a:r>
              <a:rPr lang="en-US" altLang="ko-KR" sz="2000" dirty="0"/>
              <a:t>Sequential </a:t>
            </a:r>
            <a:r>
              <a:rPr lang="en-US" altLang="ko-KR" sz="2000" dirty="0" err="1"/>
              <a:t>Dqn</a:t>
            </a:r>
            <a:r>
              <a:rPr lang="ko-KR" altLang="en-US" sz="2000" dirty="0"/>
              <a:t>을 튜닝하였다</a:t>
            </a:r>
            <a:r>
              <a:rPr lang="en-US" altLang="ko-KR" sz="2000" dirty="0"/>
              <a:t>. </a:t>
            </a:r>
            <a:r>
              <a:rPr lang="ko-KR" altLang="en-US" sz="2000" dirty="0"/>
              <a:t>원래는 </a:t>
            </a:r>
            <a:r>
              <a:rPr lang="en-US" altLang="ko-KR" sz="2000" dirty="0"/>
              <a:t>12</a:t>
            </a:r>
            <a:r>
              <a:rPr lang="ko-KR" altLang="en-US" sz="2000" dirty="0"/>
              <a:t>개 조합으로 </a:t>
            </a:r>
            <a:r>
              <a:rPr lang="en-US" altLang="ko-KR" sz="2000" dirty="0" err="1"/>
              <a:t>hidden_dim</a:t>
            </a:r>
            <a:r>
              <a:rPr lang="en-US" altLang="ko-KR" sz="2000" dirty="0"/>
              <a:t> = {64, 128, 256}, </a:t>
            </a:r>
            <a:r>
              <a:rPr lang="en-US" altLang="ko-KR" sz="2000" dirty="0" err="1"/>
              <a:t>lstm_hidden</a:t>
            </a:r>
            <a:r>
              <a:rPr lang="en-US" altLang="ko-KR" sz="2000" dirty="0"/>
              <a:t> = {32, 64}, </a:t>
            </a:r>
            <a:r>
              <a:rPr lang="en-US" altLang="ko-KR" sz="2000" dirty="0" err="1"/>
              <a:t>learning_rate</a:t>
            </a:r>
            <a:r>
              <a:rPr lang="en-US" altLang="ko-KR" sz="2000" dirty="0"/>
              <a:t> = {0.001, 0.0005}</a:t>
            </a:r>
            <a:r>
              <a:rPr lang="ko-KR" altLang="en-US" sz="2000" dirty="0"/>
              <a:t>에서</a:t>
            </a:r>
            <a:r>
              <a:rPr lang="en-US" altLang="ko-KR" sz="2000" dirty="0"/>
              <a:t> </a:t>
            </a:r>
            <a:r>
              <a:rPr lang="en-US" altLang="ko-KR" sz="2000" dirty="0" err="1"/>
              <a:t>n_episode</a:t>
            </a:r>
            <a:r>
              <a:rPr lang="en-US" altLang="ko-KR" sz="2000" dirty="0"/>
              <a:t> = 300</a:t>
            </a:r>
            <a:r>
              <a:rPr lang="ko-KR" altLang="en-US" sz="2000" dirty="0"/>
              <a:t>이었지만</a:t>
            </a:r>
            <a:r>
              <a:rPr lang="en-US" altLang="ko-KR" sz="2000" dirty="0"/>
              <a:t>, </a:t>
            </a:r>
            <a:r>
              <a:rPr lang="ko-KR" altLang="en-US" sz="2000" dirty="0"/>
              <a:t>수행 시간이 너무 오래 걸려 </a:t>
            </a:r>
            <a:r>
              <a:rPr lang="en-US" altLang="ko-KR" sz="2000" dirty="0"/>
              <a:t>{32, 64}, {16, 32}, {0.001, 0.0005}</a:t>
            </a:r>
            <a:r>
              <a:rPr lang="ko-KR" altLang="en-US" sz="2000" dirty="0"/>
              <a:t>에서 </a:t>
            </a:r>
            <a:r>
              <a:rPr lang="en-US" altLang="ko-KR" sz="2000" dirty="0" err="1"/>
              <a:t>n_episode</a:t>
            </a:r>
            <a:r>
              <a:rPr lang="en-US" altLang="ko-KR" sz="2000" dirty="0"/>
              <a:t> = 100</a:t>
            </a:r>
            <a:r>
              <a:rPr lang="ko-KR" altLang="en-US" sz="2000" dirty="0"/>
              <a:t>으로 낮게 설정해 튜닝하였다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36364723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B46F01-22D4-1E86-001F-25C53EB3C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다중 </a:t>
            </a:r>
            <a:r>
              <a:rPr lang="ko-KR" altLang="en-US" dirty="0" err="1"/>
              <a:t>시드</a:t>
            </a:r>
            <a:r>
              <a:rPr lang="ko-KR" altLang="en-US" dirty="0"/>
              <a:t> 실험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70EB6F-A3FD-464B-7E72-E20683F10D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 sz="2000" dirty="0"/>
              <a:t>본 프로젝트에서는 결과의 통계적 신뢰성을 확보하기 위해 랜덤 </a:t>
            </a:r>
            <a:r>
              <a:rPr lang="ko-KR" altLang="en-US" sz="2000" dirty="0" err="1"/>
              <a:t>시드</a:t>
            </a:r>
            <a:r>
              <a:rPr lang="ko-KR" altLang="en-US" sz="2000" dirty="0"/>
              <a:t> </a:t>
            </a:r>
            <a:r>
              <a:rPr lang="en-US" altLang="ko-KR" sz="2000" dirty="0"/>
              <a:t>{42, 123, 456, 789, 1024}</a:t>
            </a:r>
            <a:r>
              <a:rPr lang="ko-KR" altLang="en-US" sz="2000" dirty="0"/>
              <a:t>에서 실험을 반복하였다</a:t>
            </a:r>
            <a:r>
              <a:rPr lang="en-US" altLang="ko-KR" sz="2000" dirty="0"/>
              <a:t>. </a:t>
            </a:r>
            <a:r>
              <a:rPr lang="ko-KR" altLang="en-US" sz="2000" dirty="0"/>
              <a:t>각 </a:t>
            </a:r>
            <a:r>
              <a:rPr lang="ko-KR" altLang="en-US" sz="2000" dirty="0" err="1"/>
              <a:t>시드에서</a:t>
            </a:r>
            <a:r>
              <a:rPr lang="ko-KR" altLang="en-US" sz="2000" dirty="0"/>
              <a:t> 데이터 분할</a:t>
            </a:r>
            <a:r>
              <a:rPr lang="en-US" altLang="ko-KR" sz="2000" dirty="0"/>
              <a:t>, </a:t>
            </a:r>
            <a:r>
              <a:rPr lang="ko-KR" altLang="en-US" sz="2000" dirty="0"/>
              <a:t>모델 초기화</a:t>
            </a:r>
            <a:r>
              <a:rPr lang="en-US" altLang="ko-KR" sz="2000" dirty="0"/>
              <a:t>, </a:t>
            </a:r>
            <a:r>
              <a:rPr lang="ko-KR" altLang="en-US" sz="2000" dirty="0"/>
              <a:t>학습 과정이 독립적으로 수행되었다</a:t>
            </a:r>
            <a:r>
              <a:rPr lang="en-US" altLang="ko-KR" sz="2000" dirty="0"/>
              <a:t>. </a:t>
            </a:r>
            <a:r>
              <a:rPr lang="ko-KR" altLang="en-US" sz="2000" dirty="0"/>
              <a:t>최종 결과는 </a:t>
            </a:r>
            <a:r>
              <a:rPr lang="en-US" altLang="ko-KR" sz="2000" dirty="0"/>
              <a:t>5</a:t>
            </a:r>
            <a:r>
              <a:rPr lang="ko-KR" altLang="en-US" sz="2000" dirty="0"/>
              <a:t>개 </a:t>
            </a:r>
            <a:r>
              <a:rPr lang="ko-KR" altLang="en-US" sz="2000" dirty="0" err="1"/>
              <a:t>시드의</a:t>
            </a:r>
            <a:r>
              <a:rPr lang="ko-KR" altLang="en-US" sz="2000" dirty="0"/>
              <a:t> 평균과 </a:t>
            </a:r>
            <a:r>
              <a:rPr lang="en-US" altLang="ko-KR" sz="2000" dirty="0"/>
              <a:t>95% </a:t>
            </a:r>
            <a:r>
              <a:rPr lang="ko-KR" altLang="en-US" sz="2000" dirty="0"/>
              <a:t>신뢰구간을 출력한다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알고리즘 간 성능 차이의 유의성을 검증하기 위해서는 </a:t>
            </a:r>
            <a:r>
              <a:rPr lang="en-US" altLang="ko-KR" sz="2000" dirty="0"/>
              <a:t>Paired t-test</a:t>
            </a:r>
            <a:r>
              <a:rPr lang="ko-KR" altLang="en-US" sz="2000" dirty="0"/>
              <a:t>를 수행하였다</a:t>
            </a:r>
            <a:r>
              <a:rPr lang="en-US" altLang="ko-KR" sz="2000" dirty="0"/>
              <a:t>. </a:t>
            </a:r>
            <a:r>
              <a:rPr lang="ko-KR" altLang="en-US" sz="2000" dirty="0"/>
              <a:t>두 알고리즘의 </a:t>
            </a:r>
            <a:r>
              <a:rPr lang="en-US" altLang="ko-KR" sz="2000" dirty="0"/>
              <a:t>NDC</a:t>
            </a:r>
            <a:r>
              <a:rPr lang="ko-KR" altLang="en-US" sz="2000" dirty="0"/>
              <a:t>의 평균 차이가 </a:t>
            </a:r>
            <a:r>
              <a:rPr lang="ko-KR" altLang="en-US" sz="2000" dirty="0" err="1"/>
              <a:t>없다를</a:t>
            </a:r>
            <a:r>
              <a:rPr lang="ko-KR" altLang="en-US" sz="2000" dirty="0"/>
              <a:t> 가정하고 수행하였으며 유의수준 </a:t>
            </a:r>
            <a:r>
              <a:rPr lang="en-US" altLang="ko-KR" sz="2000" dirty="0"/>
              <a:t>a = 0.01</a:t>
            </a:r>
            <a:r>
              <a:rPr lang="ko-KR" altLang="en-US" sz="2000" dirty="0"/>
              <a:t>로 검정하였다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2545887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B5CAD1-127F-BF6F-07DC-3A3418C1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8200" y="607392"/>
            <a:ext cx="3161963" cy="734711"/>
          </a:xfrm>
        </p:spPr>
        <p:txBody>
          <a:bodyPr/>
          <a:lstStyle/>
          <a:p>
            <a:r>
              <a:rPr lang="ko-KR" altLang="en-US" dirty="0"/>
              <a:t>실험 결과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A889DF4-290D-9263-A59F-57C5E4AA0B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458200" y="1342103"/>
            <a:ext cx="3161963" cy="4908505"/>
          </a:xfrm>
        </p:spPr>
        <p:txBody>
          <a:bodyPr>
            <a:normAutofit fontScale="92500"/>
          </a:bodyPr>
          <a:lstStyle/>
          <a:p>
            <a:r>
              <a:rPr lang="en-US" altLang="ko-KR" sz="1500" dirty="0"/>
              <a:t>E-greedy</a:t>
            </a:r>
            <a:r>
              <a:rPr lang="ko-KR" altLang="en-US" sz="1500" dirty="0"/>
              <a:t> 튜닝에서는 </a:t>
            </a:r>
            <a:r>
              <a:rPr lang="en-US" altLang="ko-KR" sz="1500" dirty="0"/>
              <a:t>0.1</a:t>
            </a:r>
            <a:r>
              <a:rPr lang="ko-KR" altLang="en-US" sz="1500" dirty="0"/>
              <a:t>이 가장 좋은 성능을 보였다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DQN </a:t>
            </a:r>
            <a:r>
              <a:rPr lang="ko-KR" altLang="en-US" sz="1500" dirty="0"/>
              <a:t>튜닝에서 </a:t>
            </a:r>
            <a:r>
              <a:rPr lang="en-US" altLang="ko-KR" sz="1500" dirty="0" err="1"/>
              <a:t>learning_rate</a:t>
            </a:r>
            <a:r>
              <a:rPr lang="ko-KR" altLang="en-US" sz="1500" dirty="0"/>
              <a:t>가 큰 경우 과적합이 발생하였다</a:t>
            </a:r>
            <a:r>
              <a:rPr lang="en-US" altLang="ko-KR" sz="1500" dirty="0"/>
              <a:t>. </a:t>
            </a:r>
            <a:r>
              <a:rPr lang="en-US" altLang="ko-KR" sz="1500" dirty="0" err="1"/>
              <a:t>Lstm_hidde</a:t>
            </a:r>
            <a:r>
              <a:rPr lang="ko-KR" altLang="en-US" sz="1500" dirty="0"/>
              <a:t>의 증가는 안정적인 학습을 보였지만 복잡한 시퀀스를 가지게 해 성능을 저하시켰다</a:t>
            </a:r>
            <a:r>
              <a:rPr lang="en-US" altLang="ko-KR" sz="1500" dirty="0"/>
              <a:t>., </a:t>
            </a:r>
            <a:r>
              <a:rPr lang="en-US" altLang="ko-KR" sz="1500" dirty="0" err="1"/>
              <a:t>hidden_dim</a:t>
            </a:r>
            <a:r>
              <a:rPr lang="ko-KR" altLang="en-US" sz="1500" dirty="0"/>
              <a:t>의 증가는 오히려 성능을 저하시켰다</a:t>
            </a:r>
            <a:r>
              <a:rPr lang="en-US" altLang="ko-KR" sz="1500" dirty="0"/>
              <a:t>. </a:t>
            </a:r>
            <a:r>
              <a:rPr lang="ko-KR" altLang="en-US" sz="1500" dirty="0"/>
              <a:t>오히려 </a:t>
            </a:r>
            <a:r>
              <a:rPr lang="ko-KR" altLang="en-US" sz="1500" dirty="0" err="1"/>
              <a:t>과적합</a:t>
            </a:r>
            <a:r>
              <a:rPr lang="ko-KR" altLang="en-US" sz="1500" dirty="0"/>
              <a:t> 위험 증가와 학습 </a:t>
            </a:r>
            <a:r>
              <a:rPr lang="en-US" altLang="ko-KR" sz="1500" dirty="0"/>
              <a:t>collapse</a:t>
            </a:r>
            <a:r>
              <a:rPr lang="ko-KR" altLang="en-US" sz="1500" dirty="0"/>
              <a:t>를 만들었다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E-greedy</a:t>
            </a:r>
            <a:r>
              <a:rPr lang="ko-KR" altLang="en-US" sz="1500" dirty="0"/>
              <a:t>가 전반적인 지표에서 가장 뛰어났다</a:t>
            </a:r>
            <a:r>
              <a:rPr lang="en-US" altLang="ko-KR" sz="1500" dirty="0"/>
              <a:t>. Sequential-DQN</a:t>
            </a:r>
            <a:r>
              <a:rPr lang="ko-KR" altLang="en-US" sz="1500" dirty="0"/>
              <a:t>은 </a:t>
            </a:r>
            <a:r>
              <a:rPr lang="en-US" altLang="ko-KR" sz="1500" dirty="0"/>
              <a:t>Recall</a:t>
            </a:r>
            <a:r>
              <a:rPr lang="ko-KR" altLang="en-US" sz="1500" dirty="0"/>
              <a:t>에서는 가장 뛰어났지만</a:t>
            </a:r>
            <a:r>
              <a:rPr lang="en-US" altLang="ko-KR" sz="1500" dirty="0"/>
              <a:t>, NDC</a:t>
            </a:r>
            <a:r>
              <a:rPr lang="ko-KR" altLang="en-US" sz="1500" dirty="0"/>
              <a:t>가 낮았다</a:t>
            </a:r>
            <a:r>
              <a:rPr lang="en-US" altLang="ko-KR" sz="1500" dirty="0"/>
              <a:t>. Policy</a:t>
            </a:r>
            <a:r>
              <a:rPr lang="ko-KR" altLang="en-US" sz="1500" dirty="0"/>
              <a:t>가 학습 범위나 데이터가 적어 수렴하지 않아 발생한 것으로 추측</a:t>
            </a:r>
            <a:r>
              <a:rPr lang="en-US" altLang="ko-KR" sz="1500" dirty="0"/>
              <a:t>.</a:t>
            </a:r>
          </a:p>
          <a:p>
            <a:r>
              <a:rPr lang="en-US" altLang="ko-KR" sz="1500" dirty="0"/>
              <a:t>Thompson Sampling</a:t>
            </a:r>
            <a:r>
              <a:rPr lang="ko-KR" altLang="en-US" sz="1500" dirty="0"/>
              <a:t>은 베타 분포 탐색이 불리했을 것으로 추측</a:t>
            </a:r>
            <a:r>
              <a:rPr lang="en-US" altLang="ko-KR" sz="1500" dirty="0"/>
              <a:t>. </a:t>
            </a:r>
            <a:r>
              <a:rPr lang="ko-KR" altLang="en-US" sz="1500" dirty="0"/>
              <a:t>데이터 특성이 </a:t>
            </a:r>
            <a:r>
              <a:rPr lang="en-US" altLang="ko-KR" sz="1500" dirty="0"/>
              <a:t>like</a:t>
            </a:r>
            <a:r>
              <a:rPr lang="ko-KR" altLang="en-US" sz="1500" dirty="0"/>
              <a:t>의 분포가 치우쳐져 있어 비효율적인 것 같다</a:t>
            </a:r>
            <a:r>
              <a:rPr lang="en-US" altLang="ko-KR" sz="1500" dirty="0"/>
              <a:t>.</a:t>
            </a:r>
            <a:endParaRPr lang="ko-KR" altLang="en-US" sz="15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C20CE99-0A4E-C626-A26A-37E62E279D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979" y="212547"/>
            <a:ext cx="2003339" cy="1616253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372A58B8-D6E2-3922-47DA-1D9CB68BCF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9318" y="212547"/>
            <a:ext cx="5897171" cy="2283910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1CA25A1A-03D5-0D05-6828-112AFB45A6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2120" y="2439738"/>
            <a:ext cx="2644369" cy="624894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2E16D543-5347-1C12-BFC5-7C83A0BB79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217" y="2840395"/>
            <a:ext cx="4800283" cy="1911919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138FC75E-66C5-F0B5-21E9-A9B748E1F75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072" y="5262348"/>
            <a:ext cx="3604572" cy="1044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8957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0A5131-03FB-7AF2-04E7-6AA367808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주요 발견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43E3E2-F817-D880-832E-B4162562D1C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ko-KR" dirty="0"/>
              <a:t>Sequential DQN</a:t>
            </a:r>
            <a:r>
              <a:rPr lang="ko-KR" altLang="en-US" dirty="0"/>
              <a:t>이 괜찮은 성능을 보인 것은 시청 기록에 시간적 패턴이 존재하며 이를 포착하는 기능 때문이다</a:t>
            </a:r>
            <a:r>
              <a:rPr lang="en-US" altLang="ko-KR" dirty="0"/>
              <a:t>. E-greedy </a:t>
            </a:r>
            <a:r>
              <a:rPr lang="ko-KR" altLang="en-US" dirty="0"/>
              <a:t>보다 떨어지는 성능은 소량의 학습밖에 하지 못해서라고 추측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E-greedy</a:t>
            </a:r>
            <a:r>
              <a:rPr lang="ko-KR" altLang="en-US" dirty="0"/>
              <a:t>에서 적절한 </a:t>
            </a:r>
            <a:r>
              <a:rPr lang="ko-KR" altLang="en-US" dirty="0" err="1"/>
              <a:t>탐험률</a:t>
            </a:r>
            <a:r>
              <a:rPr lang="ko-KR" altLang="en-US" dirty="0"/>
              <a:t> 조정이 성능에 중요함을 확인하였다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DQN </a:t>
            </a:r>
            <a:r>
              <a:rPr lang="ko-KR" altLang="en-US" dirty="0"/>
              <a:t>튜닝에서 오히려 작은 크기의 네트워크가 좋은 효과를 보였다</a:t>
            </a:r>
            <a:r>
              <a:rPr lang="en-US" altLang="ko-KR" dirty="0"/>
              <a:t>. </a:t>
            </a:r>
            <a:r>
              <a:rPr lang="ko-KR" altLang="en-US" dirty="0"/>
              <a:t>파라미터 후보의 크기가 전부 작은 탓인지는 모르지만</a:t>
            </a:r>
            <a:r>
              <a:rPr lang="en-US" altLang="ko-KR" dirty="0"/>
              <a:t>, </a:t>
            </a:r>
            <a:r>
              <a:rPr lang="ko-KR" altLang="en-US" dirty="0"/>
              <a:t>해당 후보들 중에서는 작은 크기의 네트워크가 좋은 성능을 보였다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0B74A50-9FBF-1C67-DD5B-DF427745FBC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한계점은 다음과 같다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실제 온라인 테스트를 진행할 수 없었으며</a:t>
            </a:r>
            <a:r>
              <a:rPr lang="en-US" altLang="ko-KR" dirty="0"/>
              <a:t>, </a:t>
            </a:r>
            <a:r>
              <a:rPr lang="ko-KR" altLang="en-US" dirty="0"/>
              <a:t>데이터셋 규모가 약 </a:t>
            </a:r>
            <a:r>
              <a:rPr lang="en-US" altLang="ko-KR" dirty="0"/>
              <a:t>10</a:t>
            </a:r>
            <a:r>
              <a:rPr lang="ko-KR" altLang="en-US" dirty="0"/>
              <a:t>만 개 정도로 대규모 데이터셋을 사용하지 못했다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Reward </a:t>
            </a:r>
            <a:r>
              <a:rPr lang="ko-KR" altLang="en-US" dirty="0"/>
              <a:t>설계에서 이진 보상을 사용하여 연속적 평점이나 장기적 사용자 만족도를 고려하지 않았다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Sequential-DQN </a:t>
            </a:r>
            <a:r>
              <a:rPr lang="ko-KR" altLang="en-US" dirty="0"/>
              <a:t>튜닝에서 다양한 파라미터 조합을 사용해보지 못해 알고리즘 간 정확한 비교가 불가하였다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468340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VTI">
  <a:themeElements>
    <a:clrScheme name="FIVE">
      <a:dk1>
        <a:sysClr val="windowText" lastClr="000000"/>
      </a:dk1>
      <a:lt1>
        <a:sysClr val="window" lastClr="FFFFFF"/>
      </a:lt1>
      <a:dk2>
        <a:srgbClr val="505046"/>
      </a:dk2>
      <a:lt2>
        <a:srgbClr val="F5F6F4"/>
      </a:lt2>
      <a:accent1>
        <a:srgbClr val="57903F"/>
      </a:accent1>
      <a:accent2>
        <a:srgbClr val="F03F2B"/>
      </a:accent2>
      <a:accent3>
        <a:srgbClr val="3488A0"/>
      </a:accent3>
      <a:accent4>
        <a:srgbClr val="F8D22F"/>
      </a:accent4>
      <a:accent5>
        <a:srgbClr val="5CC6D6"/>
      </a:accent5>
      <a:accent6>
        <a:srgbClr val="B8D233"/>
      </a:accent6>
      <a:hlink>
        <a:srgbClr val="00B0F0"/>
      </a:hlink>
      <a:folHlink>
        <a:srgbClr val="B2B2B2"/>
      </a:folHlink>
    </a:clrScheme>
    <a:fontScheme name="Century Gothic">
      <a:maj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F03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hade val="100000"/>
                <a:satMod val="300000"/>
              </a:schemeClr>
            </a:gs>
            <a:gs pos="100000">
              <a:schemeClr val="phClr">
                <a:tint val="100000"/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884_TF78438558" id="{3CB50A5E-A4A2-4D8C-92BF-ECB022D5D39A}" vid="{3F4CD028-47E6-4463-B06D-5EDDC9C0696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{35953327-E419-47E1-972D-57C0190E223A}TF8a9b5915-b8c7-461e-8cdd-693d48b5e323fdde8251_win32-0f67f964ddf4</Template>
  <TotalTime>315</TotalTime>
  <Words>1230</Words>
  <Application>Microsoft Office PowerPoint</Application>
  <PresentationFormat>와이드스크린</PresentationFormat>
  <Paragraphs>63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9" baseType="lpstr">
      <vt:lpstr>맑은 고딕</vt:lpstr>
      <vt:lpstr>맑은 고딕</vt:lpstr>
      <vt:lpstr>Arial</vt:lpstr>
      <vt:lpstr>Calibri</vt:lpstr>
      <vt:lpstr>Garamond</vt:lpstr>
      <vt:lpstr>SavonVTI</vt:lpstr>
      <vt:lpstr>강화학습개론 프로젝트 보고서</vt:lpstr>
      <vt:lpstr>목차</vt:lpstr>
      <vt:lpstr>프로젝트 소개</vt:lpstr>
      <vt:lpstr>연구 배경</vt:lpstr>
      <vt:lpstr>연구 목표</vt:lpstr>
      <vt:lpstr>알고리즘 기반 추천</vt:lpstr>
      <vt:lpstr>데이터셋</vt:lpstr>
      <vt:lpstr>State, Aciton, Reward 설계</vt:lpstr>
      <vt:lpstr>실험 설정</vt:lpstr>
      <vt:lpstr>하이퍼파라미터</vt:lpstr>
      <vt:lpstr>다중 시드 실험</vt:lpstr>
      <vt:lpstr>실험 결과</vt:lpstr>
      <vt:lpstr>주요 발견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강화학습개론 프로젝트 보고서</dc:title>
  <dc:creator>목월 박</dc:creator>
  <cp:lastModifiedBy>목월 박</cp:lastModifiedBy>
  <cp:revision>1</cp:revision>
  <dcterms:created xsi:type="dcterms:W3CDTF">2025-12-07T06:15:36Z</dcterms:created>
  <dcterms:modified xsi:type="dcterms:W3CDTF">2025-12-07T14:29:55Z</dcterms:modified>
</cp:coreProperties>
</file>