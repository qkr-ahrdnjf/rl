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5"/>
  </p:notesMasterIdLst>
  <p:handoutMasterIdLst>
    <p:handoutMasterId r:id="rId16"/>
  </p:handoutMasterIdLst>
  <p:sldIdLst>
    <p:sldId id="257" r:id="rId2"/>
    <p:sldId id="262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4" r:id="rId13"/>
    <p:sldId id="275" r:id="rId1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529"/>
    <a:srgbClr val="2B3922"/>
    <a:srgbClr val="2E3722"/>
    <a:srgbClr val="FCF7F1"/>
    <a:srgbClr val="B8D233"/>
    <a:srgbClr val="5CC6D6"/>
    <a:srgbClr val="F8D22F"/>
    <a:srgbClr val="F03F2B"/>
    <a:srgbClr val="3488A0"/>
    <a:srgbClr val="579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8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355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목월 박" userId="1300032c5d11fae3" providerId="LiveId" clId="{D9586270-C413-4493-9ACB-20421103D285}"/>
    <pc:docChg chg="undo custSel modSld">
      <pc:chgData name="목월 박" userId="1300032c5d11fae3" providerId="LiveId" clId="{D9586270-C413-4493-9ACB-20421103D285}" dt="2025-12-07T14:18:22.376" v="766" actId="1076"/>
      <pc:docMkLst>
        <pc:docMk/>
      </pc:docMkLst>
      <pc:sldChg chg="addSp modSp mod">
        <pc:chgData name="목월 박" userId="1300032c5d11fae3" providerId="LiveId" clId="{D9586270-C413-4493-9ACB-20421103D285}" dt="2025-12-07T10:36:27.280" v="5" actId="1076"/>
        <pc:sldMkLst>
          <pc:docMk/>
          <pc:sldMk cId="2584280759" sldId="257"/>
        </pc:sldMkLst>
        <pc:spChg chg="add mod">
          <ac:chgData name="목월 박" userId="1300032c5d11fae3" providerId="LiveId" clId="{D9586270-C413-4493-9ACB-20421103D285}" dt="2025-12-07T10:36:27.280" v="5" actId="1076"/>
          <ac:spMkLst>
            <pc:docMk/>
            <pc:sldMk cId="2584280759" sldId="257"/>
            <ac:spMk id="4" creationId="{4D6E9083-858D-6178-E505-002DD0A59444}"/>
          </ac:spMkLst>
        </pc:spChg>
        <pc:picChg chg="mod">
          <ac:chgData name="목월 박" userId="1300032c5d11fae3" providerId="LiveId" clId="{D9586270-C413-4493-9ACB-20421103D285}" dt="2025-12-07T10:36:22.563" v="4" actId="1076"/>
          <ac:picMkLst>
            <pc:docMk/>
            <pc:sldMk cId="2584280759" sldId="257"/>
            <ac:picMk id="6" creationId="{8045422F-7258-40AC-BD2E-2469AA448922}"/>
          </ac:picMkLst>
        </pc:picChg>
      </pc:sldChg>
      <pc:sldChg chg="addSp delSp modSp mod">
        <pc:chgData name="목월 박" userId="1300032c5d11fae3" providerId="LiveId" clId="{D9586270-C413-4493-9ACB-20421103D285}" dt="2025-12-07T14:18:22.376" v="766" actId="1076"/>
        <pc:sldMkLst>
          <pc:docMk/>
          <pc:sldMk cId="2595895762" sldId="274"/>
        </pc:sldMkLst>
        <pc:spChg chg="mod">
          <ac:chgData name="목월 박" userId="1300032c5d11fae3" providerId="LiveId" clId="{D9586270-C413-4493-9ACB-20421103D285}" dt="2025-12-07T13:25:22.345" v="729" actId="20577"/>
          <ac:spMkLst>
            <pc:docMk/>
            <pc:sldMk cId="2595895762" sldId="274"/>
            <ac:spMk id="4" creationId="{5A889DF4-290D-9263-A59F-57C5E4AA0BC2}"/>
          </ac:spMkLst>
        </pc:spChg>
        <pc:picChg chg="add mod">
          <ac:chgData name="목월 박" userId="1300032c5d11fae3" providerId="LiveId" clId="{D9586270-C413-4493-9ACB-20421103D285}" dt="2025-12-07T13:18:37.421" v="115" actId="14100"/>
          <ac:picMkLst>
            <pc:docMk/>
            <pc:sldMk cId="2595895762" sldId="274"/>
            <ac:picMk id="5" creationId="{BC20CE99-0A4E-C626-A26A-37E62E279DA1}"/>
          </ac:picMkLst>
        </pc:picChg>
        <pc:picChg chg="del mod">
          <ac:chgData name="목월 박" userId="1300032c5d11fae3" providerId="LiveId" clId="{D9586270-C413-4493-9ACB-20421103D285}" dt="2025-12-07T14:17:44.182" v="759" actId="478"/>
          <ac:picMkLst>
            <pc:docMk/>
            <pc:sldMk cId="2595895762" sldId="274"/>
            <ac:picMk id="7" creationId="{B6E79F4B-BBDD-5684-3F71-1FC713CCA2CF}"/>
          </ac:picMkLst>
        </pc:picChg>
        <pc:picChg chg="add mod">
          <ac:chgData name="목월 박" userId="1300032c5d11fae3" providerId="LiveId" clId="{D9586270-C413-4493-9ACB-20421103D285}" dt="2025-12-07T13:19:27.911" v="121" actId="1076"/>
          <ac:picMkLst>
            <pc:docMk/>
            <pc:sldMk cId="2595895762" sldId="274"/>
            <ac:picMk id="8" creationId="{372A58B8-D6E2-3922-47DA-1D9CB68BCF6F}"/>
          </ac:picMkLst>
        </pc:picChg>
        <pc:picChg chg="del mod">
          <ac:chgData name="목월 박" userId="1300032c5d11fae3" providerId="LiveId" clId="{D9586270-C413-4493-9ACB-20421103D285}" dt="2025-12-07T13:18:28.487" v="110" actId="478"/>
          <ac:picMkLst>
            <pc:docMk/>
            <pc:sldMk cId="2595895762" sldId="274"/>
            <ac:picMk id="9" creationId="{9870494E-2B2B-788D-27DA-6967FE619B74}"/>
          </ac:picMkLst>
        </pc:picChg>
        <pc:picChg chg="del mod">
          <ac:chgData name="목월 박" userId="1300032c5d11fae3" providerId="LiveId" clId="{D9586270-C413-4493-9ACB-20421103D285}" dt="2025-12-07T14:18:18.179" v="764" actId="478"/>
          <ac:picMkLst>
            <pc:docMk/>
            <pc:sldMk cId="2595895762" sldId="274"/>
            <ac:picMk id="11" creationId="{209203B9-02BB-44F5-45DE-C90A9AC06D78}"/>
          </ac:picMkLst>
        </pc:picChg>
        <pc:picChg chg="add mod">
          <ac:chgData name="목월 박" userId="1300032c5d11fae3" providerId="LiveId" clId="{D9586270-C413-4493-9ACB-20421103D285}" dt="2025-12-07T13:19:31.808" v="122" actId="1076"/>
          <ac:picMkLst>
            <pc:docMk/>
            <pc:sldMk cId="2595895762" sldId="274"/>
            <ac:picMk id="12" creationId="{1CA25A1A-03D5-0D05-6828-112AFB45A680}"/>
          </ac:picMkLst>
        </pc:picChg>
        <pc:picChg chg="del">
          <ac:chgData name="목월 박" userId="1300032c5d11fae3" providerId="LiveId" clId="{D9586270-C413-4493-9ACB-20421103D285}" dt="2025-12-07T13:19:22.694" v="118" actId="478"/>
          <ac:picMkLst>
            <pc:docMk/>
            <pc:sldMk cId="2595895762" sldId="274"/>
            <ac:picMk id="13" creationId="{F13B2239-D8F5-8389-AF69-B758228BF792}"/>
          </ac:picMkLst>
        </pc:picChg>
        <pc:picChg chg="add mod">
          <ac:chgData name="목월 박" userId="1300032c5d11fae3" providerId="LiveId" clId="{D9586270-C413-4493-9ACB-20421103D285}" dt="2025-12-07T14:17:59.138" v="763" actId="1076"/>
          <ac:picMkLst>
            <pc:docMk/>
            <pc:sldMk cId="2595895762" sldId="274"/>
            <ac:picMk id="15" creationId="{2E16D543-5347-1C12-BFC5-7C83A0BB794C}"/>
          </ac:picMkLst>
        </pc:picChg>
        <pc:picChg chg="add mod">
          <ac:chgData name="목월 박" userId="1300032c5d11fae3" providerId="LiveId" clId="{D9586270-C413-4493-9ACB-20421103D285}" dt="2025-12-07T14:18:22.376" v="766" actId="1076"/>
          <ac:picMkLst>
            <pc:docMk/>
            <pc:sldMk cId="2595895762" sldId="274"/>
            <ac:picMk id="17" creationId="{138FC75E-66C5-F0B5-21E9-A9B748E1F758}"/>
          </ac:picMkLst>
        </pc:picChg>
      </pc:sldChg>
      <pc:sldChg chg="modSp mod">
        <pc:chgData name="목월 박" userId="1300032c5d11fae3" providerId="LiveId" clId="{D9586270-C413-4493-9ACB-20421103D285}" dt="2025-12-07T13:26:31.382" v="758" actId="20577"/>
        <pc:sldMkLst>
          <pc:docMk/>
          <pc:sldMk cId="3046834000" sldId="275"/>
        </pc:sldMkLst>
        <pc:spChg chg="mod">
          <ac:chgData name="목월 박" userId="1300032c5d11fae3" providerId="LiveId" clId="{D9586270-C413-4493-9ACB-20421103D285}" dt="2025-12-07T13:26:31.382" v="758" actId="20577"/>
          <ac:spMkLst>
            <pc:docMk/>
            <pc:sldMk cId="3046834000" sldId="275"/>
            <ac:spMk id="3" creationId="{F343E3E2-F817-D880-832E-B4162562D1C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F839092-15F8-4C72-A6BC-E11C1D12CDAA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7ACF5E7-ACB0-497B-A8C6-F2E617B463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3396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834EDFF-C18C-466F-B693-08283F9FE7CF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"/>
              <a:t>마스터 텍스트 스타일을 편집하려면 클릭하세요.</a:t>
            </a:r>
            <a:endParaRPr lang="en-US"/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7A705E3-E620-489D-9973-6221209A4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8183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10" name="직사각형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직사각형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직사각형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(S)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629103" y="2244830"/>
            <a:ext cx="8933796" cy="2437232"/>
          </a:xfrm>
        </p:spPr>
        <p:txBody>
          <a:bodyPr tIns="45720" bIns="45720" rtlCol="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 rtlCol="0"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20" name="날짜 개체 틀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 rtlCol="0"/>
          <a:lstStyle>
            <a:lvl1pPr algn="ctr">
              <a:defRPr sz="1300" spc="0" baseline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fld id="{0421086B-92A0-4D22-94D7-207C8E029793}" type="datetime1">
              <a:rPr lang="ko-KR" altLang="en-US" smtClean="0"/>
              <a:t>2025-12-07</a:t>
            </a:fld>
            <a:endParaRPr lang="en-US" dirty="0"/>
          </a:p>
        </p:txBody>
      </p:sp>
      <p:sp>
        <p:nvSpPr>
          <p:cNvPr id="21" name="바닥글 개체 틀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22" name="슬라이드 번호 개체 틀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2EABA43C-120F-4415-98B3-372D2FECC855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23" name="직사각형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직사각형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직사각형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629156" y="2275165"/>
            <a:ext cx="8933688" cy="2406895"/>
          </a:xfrm>
        </p:spPr>
        <p:txBody>
          <a:bodyPr rtlCol="0"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(S)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rtlCol="0"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+mj-ea"/>
                <a:ea typeface="+mj-ea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 rtlCol="0"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j-ea"/>
                <a:ea typeface="+mj-ea"/>
                <a:cs typeface="+mn-cs"/>
              </a:defRPr>
            </a:lvl1pPr>
          </a:lstStyle>
          <a:p>
            <a:fld id="{7A3EB572-C624-418B-8597-163D90616FC8}" type="datetime1">
              <a:rPr lang="ko-KR" altLang="en-US" smtClean="0"/>
              <a:t>2025-12-07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BE760CE9-DAAA-4235-992F-BD3E0145916A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12DB1AE6-F89A-4A3B-A7FF-0FB649FB73D9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D692FE0A-EA49-4D7D-9497-837FBECB3F6B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56FBB2DF-47A9-40D1-8CCE-28FE2873E83F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58200" y="607392"/>
            <a:ext cx="3161963" cy="1645920"/>
          </a:xfrm>
        </p:spPr>
        <p:txBody>
          <a:bodyPr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 rtlCol="0"/>
          <a:lstStyle>
            <a:lvl1pPr>
              <a:defRPr sz="19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58200" y="2336800"/>
            <a:ext cx="3161963" cy="3606800"/>
          </a:xfrm>
        </p:spPr>
        <p:txBody>
          <a:bodyPr rtlCol="0"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490B79C2-6C94-403B-8C2C-F3D94681D3D0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 rtlCol="0"/>
          <a:lstStyle>
            <a:lvl1pPr algn="l"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11" name="슬라이드 번호 개체 틀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그림 개체 틀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t"/>
          <a:lstStyle>
            <a:lvl1pPr marL="0" indent="0">
              <a:buNone/>
              <a:defRPr sz="3200">
                <a:latin typeface="+mj-ea"/>
                <a:ea typeface="+mj-ea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 rtlCol="0"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defRPr>
            </a:lvl1pPr>
          </a:lstStyle>
          <a:p>
            <a:fld id="{85759F83-5FB7-41EB-8B77-54D18451864A}" type="datetime1">
              <a:rPr lang="ko-KR" altLang="en-US" smtClean="0"/>
              <a:t>2025-12-07</a:t>
            </a:fld>
            <a:endParaRPr 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 rtlCol="0"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  <a:cs typeface="+mn-cs"/>
              </a:defRPr>
            </a:lvl1pPr>
          </a:lstStyle>
          <a:p>
            <a:pPr algn="l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77250" y="603504"/>
            <a:ext cx="3144774" cy="1645920"/>
          </a:xfrm>
        </p:spPr>
        <p:txBody>
          <a:bodyPr rtlCol="0"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77250" y="2386584"/>
            <a:ext cx="3144774" cy="3511296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9AA789D4-F75C-46F1-A8E1-B49D7553F821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6E95217A-41F5-40B0-A1B1-26DD36AFCC5B}" type="datetime1">
              <a:rPr lang="ko-KR" altLang="en-US" smtClean="0"/>
              <a:t>2025-12-07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직사각형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"/>
              <a:t>마스터 텍스트 스타일을 편집하려면 클릭하세요.</a:t>
            </a:r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98D2B5FF-957F-493E-A036-A1B14CB1BDF4}" type="datetime1">
              <a:rPr lang="ko-KR" altLang="en-US" smtClean="0"/>
              <a:t>2025-12-07</a:t>
            </a:fld>
            <a:endParaRPr 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ea"/>
          <a:ea typeface="+mj-ea"/>
          <a:cs typeface="+mn-cs"/>
        </a:defRPr>
      </a:lvl1pPr>
    </p:titleStyle>
    <p:bodyStyle>
      <a:lvl1pPr marL="182880" indent="-182880" algn="l" defTabSz="914400" rtl="0" eaLnBrk="1" latinLnBrk="1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j-ea"/>
          <a:ea typeface="+mj-ea"/>
          <a:cs typeface="+mn-cs"/>
        </a:defRPr>
      </a:lvl1pPr>
      <a:lvl2pPr marL="45720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j-ea"/>
          <a:ea typeface="+mj-ea"/>
          <a:cs typeface="+mn-cs"/>
        </a:defRPr>
      </a:lvl2pPr>
      <a:lvl3pPr marL="73152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3pPr>
      <a:lvl4pPr marL="100584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4pPr>
      <a:lvl5pPr marL="128016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5pPr>
      <a:lvl6pPr marL="16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kr-ahrdnjf/RL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로고 클로즈업&#10;&#10;자동 생성되는 설명">
            <a:extLst>
              <a:ext uri="{FF2B5EF4-FFF2-40B4-BE49-F238E27FC236}">
                <a16:creationId xmlns:a16="http://schemas.microsoft.com/office/drawing/2014/main" id="{8045422F-7258-40AC-BD2E-2469AA448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82" name="직사각형 81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35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강화학습개론 프로젝트 보고서</a:t>
            </a:r>
            <a:endParaRPr lang="ko" sz="3500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 rtlCol="0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 altLang="ko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20241594 </a:t>
            </a:r>
            <a:r>
              <a:rPr lang="ko-KR" altLang="en-US" dirty="0" err="1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박목월</a:t>
            </a:r>
            <a:endParaRPr lang="ko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6E9083-858D-6178-E505-002DD0A59444}"/>
              </a:ext>
            </a:extLst>
          </p:cNvPr>
          <p:cNvSpPr txBox="1"/>
          <p:nvPr/>
        </p:nvSpPr>
        <p:spPr>
          <a:xfrm>
            <a:off x="489336" y="6110485"/>
            <a:ext cx="55444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dirty="0" err="1">
                <a:hlinkClick r:id="rId3"/>
              </a:rPr>
              <a:t>qkr-ahrdnjf</a:t>
            </a:r>
            <a:r>
              <a:rPr lang="en-US" altLang="ko-KR" sz="2500" dirty="0">
                <a:hlinkClick r:id="rId3"/>
              </a:rPr>
              <a:t>/RL: </a:t>
            </a:r>
            <a:r>
              <a:rPr lang="ko-KR" altLang="en-US" sz="2500" dirty="0">
                <a:hlinkClick r:id="rId3"/>
              </a:rPr>
              <a:t>강화학습개론</a:t>
            </a:r>
            <a:endParaRPr lang="ko-KR" altLang="en-US" sz="2500" dirty="0"/>
          </a:p>
        </p:txBody>
      </p:sp>
    </p:spTree>
    <p:extLst>
      <p:ext uri="{BB962C8B-B14F-4D97-AF65-F5344CB8AC3E}">
        <p14:creationId xmlns:p14="http://schemas.microsoft.com/office/powerpoint/2010/main" val="2584280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A300E843-618E-D067-F7AB-D6FB73471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84DB75-6DAE-0BF1-02C9-FF2C843CA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/>
              <a:t> </a:t>
            </a:r>
            <a:r>
              <a:rPr lang="ko-KR" altLang="en-US" sz="2000" dirty="0"/>
              <a:t>프로젝트 소개</a:t>
            </a:r>
            <a:endParaRPr lang="en-US" altLang="ko-KR" sz="2000" dirty="0"/>
          </a:p>
          <a:p>
            <a:r>
              <a:rPr lang="ko-KR" altLang="en-US" sz="2000" dirty="0"/>
              <a:t> 주요 기능</a:t>
            </a:r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/>
              <a:t>데이터셋</a:t>
            </a:r>
            <a:r>
              <a:rPr lang="en-US" altLang="ko-KR" sz="2000" dirty="0"/>
              <a:t>, State-Action-Reward </a:t>
            </a:r>
            <a:r>
              <a:rPr lang="ko-KR" altLang="en-US" sz="2000" dirty="0"/>
              <a:t>설계</a:t>
            </a:r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/>
              <a:t>실험 설정</a:t>
            </a:r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 err="1"/>
              <a:t>하이퍼파라미터</a:t>
            </a:r>
            <a:r>
              <a:rPr lang="en-US" altLang="ko-KR" sz="2000" dirty="0"/>
              <a:t>, </a:t>
            </a:r>
            <a:r>
              <a:rPr lang="ko-KR" altLang="en-US" sz="2000" dirty="0"/>
              <a:t>다중 </a:t>
            </a:r>
            <a:r>
              <a:rPr lang="ko-KR" altLang="en-US" sz="2000" dirty="0" err="1"/>
              <a:t>시드</a:t>
            </a:r>
            <a:r>
              <a:rPr lang="ko-KR" altLang="en-US" sz="2000" dirty="0"/>
              <a:t> 실험</a:t>
            </a:r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/>
              <a:t>실험 결과</a:t>
            </a:r>
            <a:endParaRPr lang="en-US" altLang="ko-KR" sz="2000" dirty="0"/>
          </a:p>
          <a:p>
            <a:r>
              <a:rPr lang="en-US" altLang="ko-KR" sz="2000" dirty="0"/>
              <a:t> </a:t>
            </a:r>
            <a:r>
              <a:rPr lang="ko-KR" altLang="en-US" sz="2000" dirty="0"/>
              <a:t>결론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662052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F999-78E5-A322-91D9-0C726C6D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소개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7FE4D1-E806-6857-0C16-49716A99B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본 연구는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en-US" altLang="ko-KR" sz="1800" dirty="0" err="1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MovieLens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데이터셋을 활용하여 강화학습 기반의 영화 추천 시스템을 구현한다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추천 시스템의 탐험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-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활용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문제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에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Contextual Bandit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프레임워크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를 접목하고 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, Random, ε-Greedy, Thompson Sampling, Sequential DQN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의 네 가지 알고리즘을 비교 분석하였다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특히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LSTM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기반의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Sequential DQN</a:t>
            </a:r>
            <a:r>
              <a:rPr lang="ko-KR" altLang="en-US" sz="1800" dirty="0">
                <a:latin typeface="Arial" panose="020B0604020202020204" pitchFamily="34" charset="0"/>
                <a:ea typeface="맑은 고딕" panose="020B0503020000020004" pitchFamily="50" charset="-127"/>
              </a:rPr>
              <a:t>으로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사용자의 시청 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기록을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저장해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시간적 의존성을 포착하였다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. </a:t>
            </a:r>
            <a:r>
              <a:rPr lang="ko-KR" altLang="ko-KR" sz="1800" dirty="0" err="1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하이퍼파라미터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튜닝을 통해 각 알고리즘의 최적 설정을 탐색</a:t>
            </a:r>
            <a:r>
              <a:rPr lang="ko-KR" altLang="en-US" sz="1800" dirty="0">
                <a:latin typeface="Arial" panose="020B0604020202020204" pitchFamily="34" charset="0"/>
                <a:ea typeface="맑은 고딕" panose="020B0503020000020004" pitchFamily="50" charset="-127"/>
              </a:rPr>
              <a:t>하였으며</a:t>
            </a:r>
            <a:r>
              <a:rPr lang="en-US" altLang="ko-KR" sz="1800" dirty="0">
                <a:latin typeface="Arial" panose="020B0604020202020204" pitchFamily="34" charset="0"/>
                <a:ea typeface="맑은 고딕" panose="020B0503020000020004" pitchFamily="50" charset="-127"/>
              </a:rPr>
              <a:t>,</a:t>
            </a:r>
            <a:r>
              <a:rPr lang="ko-KR" altLang="en-US" sz="1800" dirty="0"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실험 결과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제안한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Sequential DQN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이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NDCG@10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기준으로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Random </a:t>
            </a:r>
            <a:r>
              <a:rPr lang="ko-KR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대비 유의미한 성능 향상을 보였으며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최적 알고리즘은 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epsilon-greedy</a:t>
            </a:r>
            <a:r>
              <a:rPr lang="ko-KR" altLang="en-US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였다</a:t>
            </a:r>
            <a:r>
              <a:rPr lang="en-US" altLang="ko-KR" sz="1800" dirty="0">
                <a:effectLst/>
                <a:latin typeface="Arial" panose="020B0604020202020204" pitchFamily="34" charset="0"/>
                <a:ea typeface="맑은 고딕" panose="020B0503020000020004" pitchFamily="50" charset="-127"/>
              </a:rPr>
              <a:t>.</a:t>
            </a:r>
            <a:endParaRPr lang="ko-KR" altLang="ko-KR" sz="1800" dirty="0">
              <a:effectLst/>
              <a:latin typeface="Arial" panose="020B0604020202020204" pitchFamily="34" charset="0"/>
              <a:ea typeface="맑은 고딕" panose="020B0503020000020004" pitchFamily="50" charset="-127"/>
            </a:endParaRPr>
          </a:p>
          <a:p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50295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4B80AA-6184-2DA0-8634-5E1BBB16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 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B60925-E97A-A038-FD19-84978837A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dirty="0"/>
              <a:t>현대의 여러 웹사이트에서 추천 시스템은 핵심 역할을 수행한다</a:t>
            </a:r>
            <a:r>
              <a:rPr lang="en-US" altLang="ko-KR" sz="1600" dirty="0"/>
              <a:t>. </a:t>
            </a:r>
            <a:r>
              <a:rPr lang="en-US" altLang="ko-KR" sz="1600" dirty="0" err="1"/>
              <a:t>Netfilx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Youtube</a:t>
            </a:r>
            <a:r>
              <a:rPr lang="en-US" altLang="ko-KR" sz="1600" dirty="0"/>
              <a:t>, Amazon </a:t>
            </a:r>
            <a:r>
              <a:rPr lang="ko-KR" altLang="en-US" sz="1600" dirty="0"/>
              <a:t>등 주요 서비스들은 사용자 맞춤형 추천을 통해 수익을 창출하고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전통적인 추천 시스템은 협업 필터링이나 콘텐츠 기반 필터링에 의존하지만 이에 한계가 있다고 생각한다</a:t>
            </a:r>
            <a:r>
              <a:rPr lang="en-US" altLang="ko-KR" sz="1600" dirty="0"/>
              <a:t>. </a:t>
            </a:r>
            <a:r>
              <a:rPr lang="ko-KR" altLang="en-US" sz="1600" dirty="0"/>
              <a:t>먼저 탐험</a:t>
            </a:r>
            <a:r>
              <a:rPr lang="en-US" altLang="ko-KR" sz="1600" dirty="0"/>
              <a:t>-</a:t>
            </a:r>
            <a:r>
              <a:rPr lang="ko-KR" altLang="en-US" sz="1600" dirty="0"/>
              <a:t>활용 트레이드오프 문제가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기존 방법은 사용자의 알려진 선호도에 기반해 추천하는 활용에 치중해 새로운 탐험을 고려하지 않는다</a:t>
            </a:r>
            <a:r>
              <a:rPr lang="en-US" altLang="ko-KR" sz="1600" dirty="0"/>
              <a:t>. </a:t>
            </a:r>
            <a:r>
              <a:rPr lang="ko-KR" altLang="en-US" sz="1600" dirty="0"/>
              <a:t>또한 사용자의 선호도는 시간에 따라 변하는데 전통적 방법은 이러한 시간적 의존성을 포착하지 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마지막으로 추천 결과에 대한 사용자 피드백을 반영하는 온라인 학습이 부족하다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 </a:t>
            </a:r>
            <a:r>
              <a:rPr lang="ko-KR" altLang="en-US" sz="1600" dirty="0"/>
              <a:t>이러한 문제들을 해결하기 위해 강화학습을 적용해보았다</a:t>
            </a:r>
            <a:r>
              <a:rPr lang="en-US" altLang="ko-KR" sz="1600" dirty="0"/>
              <a:t>. </a:t>
            </a:r>
            <a:r>
              <a:rPr lang="ko-KR" altLang="en-US" sz="1600" dirty="0"/>
              <a:t>에이전트가 환경과 상호작용하며 보상을 최대화하는 강화학습은 추천 시스템과 매우 적합하다고 생각한다</a:t>
            </a:r>
            <a:r>
              <a:rPr lang="en-US" altLang="ko-KR" sz="1600" dirty="0"/>
              <a:t>. </a:t>
            </a:r>
            <a:r>
              <a:rPr lang="ko-KR" altLang="en-US" sz="1600" dirty="0"/>
              <a:t>사용자에게 </a:t>
            </a:r>
            <a:r>
              <a:rPr lang="en-US" altLang="ko-KR" sz="1600" dirty="0"/>
              <a:t>action</a:t>
            </a:r>
            <a:r>
              <a:rPr lang="ko-KR" altLang="en-US" sz="1600" dirty="0"/>
              <a:t>을 추천하고 </a:t>
            </a:r>
            <a:r>
              <a:rPr lang="en-US" altLang="ko-KR" sz="1600" dirty="0"/>
              <a:t>reward</a:t>
            </a:r>
            <a:r>
              <a:rPr lang="ko-KR" altLang="en-US" sz="1600" dirty="0"/>
              <a:t>를 분석하여 </a:t>
            </a:r>
            <a:r>
              <a:rPr lang="en-US" altLang="ko-KR" sz="1600" dirty="0"/>
              <a:t>Policy update</a:t>
            </a:r>
            <a:r>
              <a:rPr lang="ko-KR" altLang="en-US" sz="1600" dirty="0"/>
              <a:t>를 하는 과정이 강화학습의 기본 구조이기 때문이다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90717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9FD436-EFBC-B824-1051-5AEA01F9F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73559D-4BEC-0A13-AE70-7B7BF6B46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추천 시스템을 </a:t>
            </a:r>
            <a:r>
              <a:rPr lang="en-US" altLang="ko-KR" sz="2000" dirty="0"/>
              <a:t>Contextual Bandit</a:t>
            </a:r>
            <a:r>
              <a:rPr lang="ko-KR" altLang="en-US" sz="2000" dirty="0"/>
              <a:t>으로 정의하고 </a:t>
            </a:r>
            <a:r>
              <a:rPr lang="en-US" altLang="ko-KR" sz="2000" dirty="0"/>
              <a:t>State, Action, Reward</a:t>
            </a:r>
            <a:r>
              <a:rPr lang="ko-KR" altLang="en-US" sz="2000" dirty="0"/>
              <a:t>를 설계한다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Random, Epsilon-greedy, Thompson Sampling, Sequential DQN</a:t>
            </a:r>
            <a:r>
              <a:rPr lang="ko-KR" altLang="en-US" sz="2000" dirty="0"/>
              <a:t>의 강화학습 알고리즘을 구현하고 비교 분석한다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Grid-Search</a:t>
            </a:r>
            <a:r>
              <a:rPr lang="ko-KR" altLang="en-US" sz="2000" dirty="0"/>
              <a:t>를 통한 </a:t>
            </a:r>
            <a:r>
              <a:rPr lang="ko-KR" altLang="en-US" sz="2000" dirty="0" err="1"/>
              <a:t>하이퍼파라미터</a:t>
            </a:r>
            <a:r>
              <a:rPr lang="ko-KR" altLang="en-US" sz="2000" dirty="0"/>
              <a:t> 튜닝으로 각 알고리즘의 최적 설정을 탐색한다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다중 </a:t>
            </a:r>
            <a:r>
              <a:rPr lang="ko-KR" altLang="en-US" sz="2000" dirty="0" err="1"/>
              <a:t>시드</a:t>
            </a:r>
            <a:r>
              <a:rPr lang="ko-KR" altLang="en-US" sz="2000" dirty="0"/>
              <a:t> 실험을 통하여 결과의 신뢰성을 확보한다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TMDB API</a:t>
            </a:r>
            <a:r>
              <a:rPr lang="ko-KR" altLang="en-US" sz="2000" dirty="0"/>
              <a:t>를 연동해 실용적인 영화 추천 서비스를 구현한다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87595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AD1BCE-4AE5-A283-A4EC-AC024102D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알고리즘</a:t>
            </a:r>
            <a:r>
              <a:rPr lang="en-US" altLang="ko-KR" dirty="0"/>
              <a:t> </a:t>
            </a:r>
            <a:r>
              <a:rPr lang="ko-KR" altLang="en-US" dirty="0"/>
              <a:t>기반 추천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8C2C50-A482-CFC9-D08A-FD17E55F5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/>
              <a:t>DQN</a:t>
            </a:r>
            <a:r>
              <a:rPr lang="ko-KR" altLang="en-US" sz="2000" dirty="0"/>
              <a:t>은 심층 강화학습 알고리즘으로</a:t>
            </a:r>
            <a:r>
              <a:rPr lang="en-US" altLang="ko-KR" sz="2000" dirty="0"/>
              <a:t>, Atari </a:t>
            </a:r>
            <a:r>
              <a:rPr lang="ko-KR" altLang="en-US" sz="2000" dirty="0"/>
              <a:t>게임에서 인간 수준의 성능을 달성해 큰 주목을 받았다</a:t>
            </a:r>
            <a:r>
              <a:rPr lang="en-US" altLang="ko-KR" sz="2000" dirty="0"/>
              <a:t>. DQN</a:t>
            </a:r>
            <a:r>
              <a:rPr lang="ko-KR" altLang="en-US" sz="2000" dirty="0"/>
              <a:t>은 </a:t>
            </a:r>
            <a:r>
              <a:rPr lang="en-US" altLang="ko-KR" sz="2000" dirty="0"/>
              <a:t>Q </a:t>
            </a:r>
            <a:r>
              <a:rPr lang="ko-KR" altLang="en-US" sz="2000" dirty="0"/>
              <a:t>함수를 신경망으로 근사해 </a:t>
            </a:r>
            <a:r>
              <a:rPr lang="en-US" altLang="ko-KR" sz="2000" dirty="0"/>
              <a:t>Experience Replay</a:t>
            </a:r>
            <a:r>
              <a:rPr lang="ko-KR" altLang="en-US" sz="2000" dirty="0"/>
              <a:t>와 </a:t>
            </a:r>
            <a:r>
              <a:rPr lang="en-US" altLang="ko-KR" sz="2000" dirty="0"/>
              <a:t>Target Network</a:t>
            </a:r>
            <a:r>
              <a:rPr lang="ko-KR" altLang="en-US" sz="2000" dirty="0"/>
              <a:t>를 통해 학습 안정성을 확보한다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Sequential Recommendation</a:t>
            </a:r>
            <a:r>
              <a:rPr lang="ko-KR" altLang="en-US" sz="2000" dirty="0"/>
              <a:t>은 사용자의 연속적인 행동을 모델링해 다음 </a:t>
            </a:r>
            <a:r>
              <a:rPr lang="en-US" altLang="ko-KR" sz="2000" dirty="0"/>
              <a:t>action</a:t>
            </a:r>
            <a:r>
              <a:rPr lang="ko-KR" altLang="en-US" sz="2000" dirty="0"/>
              <a:t>을 예측하는 알고리즘이다</a:t>
            </a:r>
            <a:r>
              <a:rPr lang="en-US" altLang="ko-KR" sz="2000" dirty="0"/>
              <a:t>. </a:t>
            </a:r>
            <a:r>
              <a:rPr lang="ko-KR" altLang="en-US" sz="2000" dirty="0"/>
              <a:t>이 프로젝트에서는 이러한 </a:t>
            </a:r>
            <a:r>
              <a:rPr lang="en-US" altLang="ko-KR" sz="2000" dirty="0"/>
              <a:t>Sequential DQN</a:t>
            </a:r>
            <a:r>
              <a:rPr lang="ko-KR" altLang="en-US" sz="2000" dirty="0"/>
              <a:t>의 아이디어와 강화학습을 결합한 것이다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99892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AC14EA-0185-2774-7867-FE5F9164C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데이터셋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51D886-2B53-8E93-E42E-19E4B1C7B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프로젝트의 데이터셋은 </a:t>
            </a:r>
            <a:r>
              <a:rPr lang="en-US" altLang="ko-KR" dirty="0" err="1"/>
              <a:t>MovieLens</a:t>
            </a:r>
            <a:r>
              <a:rPr lang="en-US" altLang="ko-KR" dirty="0"/>
              <a:t> Latest Small </a:t>
            </a:r>
            <a:r>
              <a:rPr lang="ko-KR" altLang="en-US" dirty="0"/>
              <a:t>데이터셋을 활용하였다</a:t>
            </a:r>
            <a:r>
              <a:rPr lang="en-US" altLang="ko-KR" dirty="0"/>
              <a:t>. </a:t>
            </a:r>
            <a:r>
              <a:rPr lang="en-US" altLang="ko-KR" dirty="0" err="1"/>
              <a:t>MovieLens</a:t>
            </a:r>
            <a:r>
              <a:rPr lang="ko-KR" altLang="en-US" dirty="0"/>
              <a:t>는 영화 추천을 </a:t>
            </a:r>
            <a:r>
              <a:rPr lang="en-US" altLang="ko-KR" dirty="0"/>
              <a:t>1997</a:t>
            </a:r>
            <a:r>
              <a:rPr lang="ko-KR" altLang="en-US" dirty="0"/>
              <a:t>년부터 운영한 플랫폼으로 추천 시스템 연구에서 가장 널리 사용되는 벤치마크 중 하나이다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데이터에 다음과 같은 </a:t>
            </a:r>
            <a:r>
              <a:rPr lang="ko-KR" altLang="en-US" dirty="0" err="1"/>
              <a:t>전처리</a:t>
            </a:r>
            <a:r>
              <a:rPr lang="ko-KR" altLang="en-US" dirty="0"/>
              <a:t> 과정을 수행하였다</a:t>
            </a:r>
            <a:r>
              <a:rPr lang="en-US" altLang="ko-KR" dirty="0"/>
              <a:t>. </a:t>
            </a:r>
            <a:r>
              <a:rPr lang="ko-KR" altLang="en-US" dirty="0"/>
              <a:t>우선 최소 평점 수 기준으로 사용자와 영화를 필터링하였다</a:t>
            </a:r>
            <a:r>
              <a:rPr lang="en-US" altLang="ko-KR" dirty="0"/>
              <a:t>. 20</a:t>
            </a:r>
            <a:r>
              <a:rPr lang="ko-KR" altLang="en-US" dirty="0"/>
              <a:t>개 이상의 평점을 가진 사용자</a:t>
            </a:r>
            <a:r>
              <a:rPr lang="en-US" altLang="ko-KR" dirty="0"/>
              <a:t>(</a:t>
            </a:r>
            <a:r>
              <a:rPr lang="en-US" altLang="ko-KR" dirty="0" err="1"/>
              <a:t>min_user_ratings</a:t>
            </a:r>
            <a:r>
              <a:rPr lang="en-US" altLang="ko-KR" dirty="0"/>
              <a:t>)</a:t>
            </a:r>
            <a:r>
              <a:rPr lang="ko-KR" altLang="en-US" dirty="0"/>
              <a:t>와 </a:t>
            </a:r>
            <a:r>
              <a:rPr lang="en-US" altLang="ko-KR" dirty="0"/>
              <a:t>10</a:t>
            </a:r>
            <a:r>
              <a:rPr lang="ko-KR" altLang="en-US" dirty="0"/>
              <a:t>개 이상의 평점을 받은 영화</a:t>
            </a:r>
            <a:r>
              <a:rPr lang="en-US" altLang="ko-KR" dirty="0"/>
              <a:t>(</a:t>
            </a:r>
            <a:r>
              <a:rPr lang="en-US" altLang="ko-KR" dirty="0" err="1"/>
              <a:t>min_movie_ratings</a:t>
            </a:r>
            <a:r>
              <a:rPr lang="en-US" altLang="ko-KR" dirty="0"/>
              <a:t>)</a:t>
            </a:r>
            <a:r>
              <a:rPr lang="ko-KR" altLang="en-US" dirty="0"/>
              <a:t>만을 포함하였다</a:t>
            </a:r>
            <a:r>
              <a:rPr lang="en-US" altLang="ko-KR" dirty="0"/>
              <a:t>. </a:t>
            </a:r>
            <a:r>
              <a:rPr lang="ko-KR" altLang="en-US" dirty="0"/>
              <a:t>이후 강화학습의 보상을 만들기 위해 평점을 이진 레이블로 사용하였다</a:t>
            </a:r>
            <a:r>
              <a:rPr lang="en-US" altLang="ko-KR" dirty="0"/>
              <a:t>. 4</a:t>
            </a:r>
            <a:r>
              <a:rPr lang="ko-KR" altLang="en-US" dirty="0"/>
              <a:t>점 이상의 평점을 </a:t>
            </a:r>
            <a:r>
              <a:rPr lang="en-US" altLang="ko-KR" dirty="0"/>
              <a:t>liked(1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미만을 </a:t>
            </a:r>
            <a:r>
              <a:rPr lang="en-US" altLang="ko-KR" dirty="0"/>
              <a:t>not liked(0</a:t>
            </a:r>
            <a:r>
              <a:rPr lang="ko-KR" altLang="en-US" dirty="0"/>
              <a:t>점</a:t>
            </a:r>
            <a:r>
              <a:rPr lang="en-US" altLang="ko-KR" dirty="0"/>
              <a:t>)</a:t>
            </a:r>
            <a:r>
              <a:rPr lang="ko-KR" altLang="en-US" dirty="0"/>
              <a:t>으로</a:t>
            </a:r>
            <a:r>
              <a:rPr lang="en-US" altLang="ko-KR" dirty="0"/>
              <a:t> </a:t>
            </a:r>
            <a:r>
              <a:rPr lang="ko-KR" altLang="en-US" dirty="0"/>
              <a:t>변환하여 사용하였다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장르의 구분은 </a:t>
            </a:r>
            <a:r>
              <a:rPr lang="en-US" altLang="ko-KR" dirty="0"/>
              <a:t>One-hot encoding</a:t>
            </a:r>
            <a:r>
              <a:rPr lang="ko-KR" altLang="en-US" dirty="0"/>
              <a:t>을 통하여 수행하였다</a:t>
            </a:r>
            <a:r>
              <a:rPr lang="en-US" altLang="ko-KR" dirty="0"/>
              <a:t>. </a:t>
            </a:r>
            <a:r>
              <a:rPr lang="ko-KR" altLang="en-US" dirty="0"/>
              <a:t>한 영화가 여러 장르에 속하는 경우가 필연적이므로 </a:t>
            </a:r>
            <a:r>
              <a:rPr lang="en-US" altLang="ko-KR" dirty="0"/>
              <a:t>Multi-hot encoding</a:t>
            </a:r>
            <a:r>
              <a:rPr lang="ko-KR" altLang="en-US" dirty="0"/>
              <a:t>을 적용하였다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데이터셋에서 가장 고려해야 할 점은 시간적인 측면이었다</a:t>
            </a:r>
            <a:r>
              <a:rPr lang="en-US" altLang="ko-KR" dirty="0"/>
              <a:t>. </a:t>
            </a:r>
            <a:r>
              <a:rPr lang="ko-KR" altLang="en-US" dirty="0"/>
              <a:t>랜덤 분할을 한다면 미래의 정보를 학습에 사용해 이상치를 가져온다</a:t>
            </a:r>
            <a:r>
              <a:rPr lang="en-US" altLang="ko-KR" dirty="0"/>
              <a:t>. </a:t>
            </a:r>
            <a:r>
              <a:rPr lang="ko-KR" altLang="en-US" dirty="0"/>
              <a:t>실제 서비스에서는 과거 데이터만으로 사용자 행동을 예측해야 한다</a:t>
            </a:r>
            <a:r>
              <a:rPr lang="en-US" altLang="ko-KR" dirty="0"/>
              <a:t>. </a:t>
            </a:r>
            <a:r>
              <a:rPr lang="ko-KR" altLang="en-US" dirty="0"/>
              <a:t>그러므로 각 사용자를 시간순으로 정렬하고 </a:t>
            </a:r>
            <a:r>
              <a:rPr lang="en-US" altLang="ko-KR" dirty="0"/>
              <a:t>Train-Test </a:t>
            </a:r>
            <a:r>
              <a:rPr lang="ko-KR" altLang="en-US" dirty="0"/>
              <a:t>데이터셋을 만들었다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75356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D91FD6-5EBD-CB90-2B81-34058461F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State, </a:t>
            </a:r>
            <a:r>
              <a:rPr lang="en-US" altLang="ko-KR" dirty="0" err="1"/>
              <a:t>Aciton</a:t>
            </a:r>
            <a:r>
              <a:rPr lang="en-US" altLang="ko-KR" dirty="0"/>
              <a:t>, Reward </a:t>
            </a:r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A74E5A-369E-B1BC-423D-3655A82F8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843548"/>
            <a:ext cx="10058400" cy="2456647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sz="2600" dirty="0"/>
              <a:t>State</a:t>
            </a:r>
            <a:r>
              <a:rPr lang="ko-KR" altLang="en-US" sz="2600" dirty="0"/>
              <a:t>는 현재 사용자의 상태로 추천 결정에 필요한 모든 정보를 포함해야 한다</a:t>
            </a:r>
            <a:r>
              <a:rPr lang="en-US" altLang="ko-KR" sz="2600" dirty="0"/>
              <a:t>. </a:t>
            </a:r>
            <a:r>
              <a:rPr lang="ko-KR" altLang="en-US" sz="2600" dirty="0"/>
              <a:t>필요한 정보는 다음과 같다</a:t>
            </a:r>
            <a:r>
              <a:rPr lang="en-US" altLang="ko-KR" sz="2600" dirty="0"/>
              <a:t>.</a:t>
            </a:r>
          </a:p>
          <a:p>
            <a:pPr lvl="1"/>
            <a:r>
              <a:rPr lang="en-US" altLang="ko-KR" sz="2600" dirty="0"/>
              <a:t>User Embedding - Truncated</a:t>
            </a:r>
            <a:r>
              <a:rPr lang="ko-KR" altLang="en-US" sz="2600" dirty="0"/>
              <a:t> </a:t>
            </a:r>
            <a:r>
              <a:rPr lang="en-US" altLang="ko-KR" sz="2600" dirty="0"/>
              <a:t>SVD</a:t>
            </a:r>
            <a:r>
              <a:rPr lang="ko-KR" altLang="en-US" sz="2600" dirty="0"/>
              <a:t>를 사용해 </a:t>
            </a:r>
            <a:r>
              <a:rPr lang="en-US" altLang="ko-KR" sz="2600" dirty="0"/>
              <a:t>user-action </a:t>
            </a:r>
            <a:r>
              <a:rPr lang="ko-KR" altLang="en-US" sz="2600" dirty="0"/>
              <a:t>상호작용을 분해하고 각 사용자에 대해 잠재 벡터를 추출하였다</a:t>
            </a:r>
            <a:r>
              <a:rPr lang="en-US" altLang="ko-KR" sz="2600" dirty="0"/>
              <a:t>. </a:t>
            </a:r>
            <a:r>
              <a:rPr lang="ko-KR" altLang="en-US" sz="2600" dirty="0"/>
              <a:t>이 벡터들은 사용자의 전반적인 취향과 영화의 특성을 표현한다</a:t>
            </a:r>
            <a:r>
              <a:rPr lang="en-US" altLang="ko-KR" sz="2600" dirty="0"/>
              <a:t>.</a:t>
            </a:r>
          </a:p>
          <a:p>
            <a:pPr lvl="1"/>
            <a:r>
              <a:rPr lang="en-US" altLang="ko-KR" sz="2600" dirty="0"/>
              <a:t>Sequence</a:t>
            </a:r>
            <a:r>
              <a:rPr lang="ko-KR" altLang="en-US" sz="2600" dirty="0"/>
              <a:t> </a:t>
            </a:r>
            <a:r>
              <a:rPr lang="en-US" altLang="ko-KR" sz="2600" dirty="0"/>
              <a:t>Embedding</a:t>
            </a:r>
            <a:r>
              <a:rPr lang="ko-KR" altLang="en-US" sz="2600" dirty="0"/>
              <a:t> </a:t>
            </a:r>
            <a:r>
              <a:rPr lang="en-US" altLang="ko-KR" sz="2600" dirty="0"/>
              <a:t>-</a:t>
            </a:r>
            <a:r>
              <a:rPr lang="ko-KR" altLang="en-US" sz="2600" dirty="0"/>
              <a:t> 최근 시청한 </a:t>
            </a:r>
            <a:r>
              <a:rPr lang="en-US" altLang="ko-KR" sz="2600" dirty="0"/>
              <a:t>10</a:t>
            </a:r>
            <a:r>
              <a:rPr lang="ko-KR" altLang="en-US" sz="2600" dirty="0"/>
              <a:t>개 영화의 시퀀스를 가져야 한다</a:t>
            </a:r>
            <a:r>
              <a:rPr lang="en-US" altLang="ko-KR" sz="2600" dirty="0"/>
              <a:t>. </a:t>
            </a:r>
            <a:r>
              <a:rPr lang="ko-KR" altLang="en-US" sz="2600" dirty="0"/>
              <a:t>각 영화는 </a:t>
            </a:r>
            <a:r>
              <a:rPr lang="en-US" altLang="ko-KR" sz="2600" dirty="0"/>
              <a:t>SVD</a:t>
            </a:r>
            <a:r>
              <a:rPr lang="ko-KR" altLang="en-US" sz="2600" dirty="0"/>
              <a:t>로 추출하였고 </a:t>
            </a:r>
            <a:r>
              <a:rPr lang="en-US" altLang="ko-KR" sz="2600" dirty="0"/>
              <a:t>LSTM</a:t>
            </a:r>
            <a:r>
              <a:rPr lang="ko-KR" altLang="en-US" sz="2600" dirty="0"/>
              <a:t>로 처리해 사용자의 최근 관심사와 시청 패턴을 포착한다</a:t>
            </a:r>
            <a:r>
              <a:rPr lang="en-US" altLang="ko-KR" sz="2600" dirty="0"/>
              <a:t>.</a:t>
            </a:r>
          </a:p>
          <a:p>
            <a:pPr lvl="1"/>
            <a:r>
              <a:rPr lang="ko-KR" altLang="en-US" sz="2600" dirty="0"/>
              <a:t>또한 최근 시청한 </a:t>
            </a:r>
            <a:r>
              <a:rPr lang="en-US" altLang="ko-KR" sz="2600" dirty="0"/>
              <a:t>10</a:t>
            </a:r>
            <a:r>
              <a:rPr lang="ko-KR" altLang="en-US" sz="2600" dirty="0"/>
              <a:t>개 영화에 대한 반응을 포함한다</a:t>
            </a:r>
            <a:r>
              <a:rPr lang="en-US" altLang="ko-KR" sz="2600" dirty="0"/>
              <a:t>. </a:t>
            </a:r>
            <a:r>
              <a:rPr lang="ko-KR" altLang="en-US" sz="2600" dirty="0"/>
              <a:t>이 정보는 시퀀스 </a:t>
            </a:r>
            <a:r>
              <a:rPr lang="ko-KR" altLang="en-US" sz="2600" dirty="0" err="1"/>
              <a:t>임베딩과</a:t>
            </a:r>
            <a:r>
              <a:rPr lang="ko-KR" altLang="en-US" sz="2600" dirty="0"/>
              <a:t> 연결해 </a:t>
            </a:r>
            <a:r>
              <a:rPr lang="en-US" altLang="ko-KR" sz="2600" dirty="0"/>
              <a:t>LSTM</a:t>
            </a:r>
            <a:r>
              <a:rPr lang="ko-KR" altLang="en-US" sz="2600" dirty="0"/>
              <a:t>에 입력된다</a:t>
            </a:r>
            <a:r>
              <a:rPr lang="en-US" altLang="ko-KR" sz="2600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AF6813B1-8E8E-DD0A-624B-64F3038B5A6E}"/>
              </a:ext>
            </a:extLst>
          </p:cNvPr>
          <p:cNvSpPr txBox="1">
            <a:spLocks/>
          </p:cNvSpPr>
          <p:nvPr/>
        </p:nvSpPr>
        <p:spPr>
          <a:xfrm>
            <a:off x="1066800" y="4300195"/>
            <a:ext cx="10058400" cy="272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1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 marL="45720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Action</a:t>
            </a:r>
            <a:r>
              <a:rPr lang="ko-KR" altLang="en-US" sz="1800" dirty="0"/>
              <a:t>은 추천할 영화를 선택하는 것이다</a:t>
            </a:r>
            <a:r>
              <a:rPr lang="en-US" altLang="ko-KR" sz="1800" dirty="0"/>
              <a:t>. </a:t>
            </a:r>
            <a:r>
              <a:rPr lang="ko-KR" altLang="en-US" sz="1800" dirty="0"/>
              <a:t>전체 영화에서 사용자가 이미 시청한 영화를 제외하고 추천한다</a:t>
            </a:r>
            <a:r>
              <a:rPr lang="en-US" altLang="ko-KR" sz="1800" dirty="0"/>
              <a:t>. </a:t>
            </a:r>
            <a:r>
              <a:rPr lang="ko-KR" altLang="en-US" sz="1800" dirty="0"/>
              <a:t>계산 효율성을 위해 각 </a:t>
            </a:r>
            <a:r>
              <a:rPr lang="en-US" altLang="ko-KR" sz="1800" dirty="0"/>
              <a:t>Step</a:t>
            </a:r>
            <a:r>
              <a:rPr lang="ko-KR" altLang="en-US" sz="1800" dirty="0"/>
              <a:t>에서 </a:t>
            </a:r>
            <a:r>
              <a:rPr lang="en-US" altLang="ko-KR" sz="1800" dirty="0"/>
              <a:t>50</a:t>
            </a:r>
            <a:r>
              <a:rPr lang="ko-KR" altLang="en-US" sz="1800" dirty="0"/>
              <a:t>개의 영화를 랜덤 샘플링해 후보를 만든다</a:t>
            </a:r>
            <a:r>
              <a:rPr lang="en-US" altLang="ko-KR" sz="1800" dirty="0"/>
              <a:t>. </a:t>
            </a:r>
            <a:r>
              <a:rPr lang="ko-KR" altLang="en-US" sz="1800" dirty="0"/>
              <a:t>이 집합에서 알고리즘이 최적의 영화를 선택한다</a:t>
            </a:r>
            <a:r>
              <a:rPr lang="en-US" altLang="ko-KR" sz="1800" dirty="0"/>
              <a:t>.</a:t>
            </a:r>
          </a:p>
          <a:p>
            <a:r>
              <a:rPr lang="en-US" altLang="ko-KR" sz="1800" dirty="0"/>
              <a:t>Reward</a:t>
            </a:r>
            <a:r>
              <a:rPr lang="ko-KR" altLang="en-US" sz="1800" dirty="0"/>
              <a:t>는 추천된 영화에 사용자의 반응이다</a:t>
            </a:r>
            <a:r>
              <a:rPr lang="en-US" altLang="ko-KR" sz="1800" dirty="0"/>
              <a:t>. </a:t>
            </a:r>
            <a:r>
              <a:rPr lang="ko-KR" altLang="en-US" sz="1800" dirty="0"/>
              <a:t>해당 영화에 평점이 </a:t>
            </a:r>
            <a:r>
              <a:rPr lang="en-US" altLang="ko-KR" sz="1800" dirty="0"/>
              <a:t>4</a:t>
            </a:r>
            <a:r>
              <a:rPr lang="ko-KR" altLang="en-US" sz="1800" dirty="0"/>
              <a:t>점 이상이면 </a:t>
            </a:r>
            <a:r>
              <a:rPr lang="en-US" altLang="ko-KR" sz="1800" dirty="0"/>
              <a:t>1, </a:t>
            </a:r>
            <a:r>
              <a:rPr lang="ko-KR" altLang="en-US" sz="1800" dirty="0"/>
              <a:t>아니면 </a:t>
            </a:r>
            <a:r>
              <a:rPr lang="en-US" altLang="ko-KR" sz="1800" dirty="0"/>
              <a:t>0. </a:t>
            </a:r>
            <a:r>
              <a:rPr lang="ko-KR" altLang="en-US" sz="1800" dirty="0"/>
              <a:t>이때 해당 영화에 대한 평점이 없다면 </a:t>
            </a:r>
            <a:r>
              <a:rPr lang="en-US" altLang="ko-KR" sz="1800" dirty="0"/>
              <a:t>SVD </a:t>
            </a:r>
            <a:r>
              <a:rPr lang="ko-KR" altLang="en-US" sz="1800" dirty="0"/>
              <a:t>예측 점수를 통해 보상을 추정한다</a:t>
            </a:r>
            <a:r>
              <a:rPr lang="en-US" altLang="ko-KR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5028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B0B04-7D4E-8708-D4BE-89FA5D219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0E19BC-7159-8DB4-78C7-A1DAE0515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실험 환경은 </a:t>
            </a:r>
            <a:r>
              <a:rPr lang="en-US" altLang="ko-KR" sz="1800" dirty="0"/>
              <a:t>Google </a:t>
            </a:r>
            <a:r>
              <a:rPr lang="en-US" altLang="ko-KR" sz="1800" dirty="0" err="1"/>
              <a:t>Colab</a:t>
            </a:r>
            <a:r>
              <a:rPr lang="ko-KR" altLang="en-US" sz="1800" dirty="0"/>
              <a:t>에서 수행하였다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r>
              <a:rPr lang="en-US" altLang="ko-KR" sz="1800" dirty="0" err="1"/>
              <a:t>Colab</a:t>
            </a:r>
            <a:r>
              <a:rPr lang="ko-KR" altLang="en-US" sz="1800" dirty="0"/>
              <a:t>에서 제공하는 무료 </a:t>
            </a:r>
            <a:r>
              <a:rPr lang="en-US" altLang="ko-KR" sz="1800" dirty="0"/>
              <a:t>GPU</a:t>
            </a:r>
            <a:r>
              <a:rPr lang="ko-KR" altLang="en-US" sz="1800" dirty="0"/>
              <a:t>를 활용하였다</a:t>
            </a:r>
            <a:r>
              <a:rPr lang="en-US" altLang="ko-KR" sz="1800" dirty="0"/>
              <a:t>. </a:t>
            </a:r>
            <a:r>
              <a:rPr lang="en-US" altLang="ko-KR" sz="1800" dirty="0" err="1"/>
              <a:t>PyTorch</a:t>
            </a:r>
            <a:r>
              <a:rPr lang="ko-KR" altLang="en-US" sz="1800" dirty="0"/>
              <a:t> </a:t>
            </a:r>
            <a:r>
              <a:rPr lang="en-US" altLang="ko-KR" sz="1800" dirty="0"/>
              <a:t>2.0,</a:t>
            </a:r>
            <a:r>
              <a:rPr lang="ko-KR" altLang="en-US" sz="1800" dirty="0"/>
              <a:t> </a:t>
            </a:r>
            <a:r>
              <a:rPr lang="en-US" altLang="ko-KR" sz="1800" dirty="0"/>
              <a:t>Python 3.1</a:t>
            </a:r>
            <a:r>
              <a:rPr lang="ko-KR" altLang="en-US" sz="1800" dirty="0"/>
              <a:t>을 사용하였다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추천 시스템 평가를 위한 네 가지 지표를 사용하였다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Hit Rate(HR) – </a:t>
            </a:r>
            <a:r>
              <a:rPr lang="ko-KR" altLang="en-US" sz="1800" dirty="0"/>
              <a:t>상위 </a:t>
            </a:r>
            <a:r>
              <a:rPr lang="en-US" altLang="ko-KR" sz="1800" dirty="0"/>
              <a:t>K</a:t>
            </a:r>
            <a:r>
              <a:rPr lang="ko-KR" altLang="en-US" sz="1800" dirty="0"/>
              <a:t>개 추천 중 최소 하나라도 사용자가 좋아한 영화가 있는지 측정한다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Precision – </a:t>
            </a:r>
            <a:r>
              <a:rPr lang="ko-KR" altLang="en-US" sz="1800" dirty="0"/>
              <a:t>상위 </a:t>
            </a:r>
            <a:r>
              <a:rPr lang="en-US" altLang="ko-KR" sz="1800" dirty="0"/>
              <a:t>K</a:t>
            </a:r>
            <a:r>
              <a:rPr lang="ko-KR" altLang="en-US" sz="1800" dirty="0"/>
              <a:t>개 추천 중 실제로 사용자가 좋아한 영화의 비율이다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Recall – </a:t>
            </a:r>
            <a:r>
              <a:rPr lang="ko-KR" altLang="en-US" sz="1800" dirty="0"/>
              <a:t>사용자가 실제로 좋아한 전체 영화 중 상위 </a:t>
            </a:r>
            <a:r>
              <a:rPr lang="en-US" altLang="ko-KR" sz="1800" dirty="0"/>
              <a:t>K</a:t>
            </a:r>
            <a:r>
              <a:rPr lang="ko-KR" altLang="en-US" sz="1800" dirty="0"/>
              <a:t>개 추천에 포함된 비율이다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Normalized Discounted Cumulative(NDC) – </a:t>
            </a:r>
            <a:r>
              <a:rPr lang="ko-KR" altLang="en-US" sz="1800" dirty="0"/>
              <a:t>추천 순위의 품질을 측정하는 랭킹 지표이다</a:t>
            </a:r>
            <a:r>
              <a:rPr lang="en-US" altLang="ko-KR" sz="1800" dirty="0"/>
              <a:t>. </a:t>
            </a:r>
            <a:r>
              <a:rPr lang="ko-KR" altLang="en-US" sz="1800" dirty="0"/>
              <a:t>상위에 관련 영화가 위치할수록 높은 점수를 부여한다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153638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4E68D6-DE3A-3F12-315F-57EC404B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하이퍼파라미터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77C096-3465-8D85-1EBC-466BF8EC4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014194"/>
            <a:ext cx="10058400" cy="3849624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Grid </a:t>
            </a:r>
            <a:r>
              <a:rPr lang="en-US" altLang="ko-KR" sz="2000" dirty="0" err="1"/>
              <a:t>searc</a:t>
            </a:r>
            <a:r>
              <a:rPr lang="ko-KR" altLang="en-US" sz="2000" dirty="0"/>
              <a:t>를 통해 각 알고리즘의 파라미터를 튜닝하였다</a:t>
            </a:r>
            <a:r>
              <a:rPr lang="en-US" altLang="ko-KR" sz="2000" dirty="0"/>
              <a:t>. </a:t>
            </a:r>
            <a:r>
              <a:rPr lang="ko-KR" altLang="en-US" sz="2000" dirty="0"/>
              <a:t>각 설정에서 </a:t>
            </a:r>
            <a:r>
              <a:rPr lang="en-US" altLang="ko-KR" sz="2000" dirty="0"/>
              <a:t>100</a:t>
            </a:r>
            <a:r>
              <a:rPr lang="ko-KR" altLang="en-US" sz="2000" dirty="0"/>
              <a:t>명의 테스트 사용자에 대해 </a:t>
            </a:r>
            <a:r>
              <a:rPr lang="en-US" altLang="ko-KR" sz="2000" dirty="0"/>
              <a:t>NDC</a:t>
            </a:r>
            <a:r>
              <a:rPr lang="ko-KR" altLang="en-US" sz="2000" dirty="0"/>
              <a:t>를 측정하여 </a:t>
            </a:r>
            <a:r>
              <a:rPr lang="en-US" altLang="ko-KR" sz="2000" dirty="0"/>
              <a:t>0.01, 0.05, 0.1, 0.2, 0.3, 0.5 </a:t>
            </a:r>
            <a:r>
              <a:rPr lang="ko-KR" altLang="en-US" sz="2000" dirty="0"/>
              <a:t>중에서 </a:t>
            </a:r>
            <a:r>
              <a:rPr lang="en-US" altLang="ko-KR" sz="2000" dirty="0"/>
              <a:t>Epsilon</a:t>
            </a:r>
            <a:r>
              <a:rPr lang="ko-KR" altLang="en-US" sz="2000" dirty="0"/>
              <a:t>을 선택하였다</a:t>
            </a:r>
            <a:r>
              <a:rPr lang="en-US" altLang="ko-KR" sz="2000" dirty="0"/>
              <a:t>.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sz="2000" dirty="0" err="1"/>
              <a:t>Hidden_dim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Lstm_hidden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learning_rate</a:t>
            </a:r>
            <a:r>
              <a:rPr lang="en-US" altLang="ko-KR" sz="2000" dirty="0"/>
              <a:t> </a:t>
            </a:r>
            <a:r>
              <a:rPr lang="ko-KR" altLang="en-US" sz="2000" dirty="0"/>
              <a:t>세 가지 </a:t>
            </a:r>
            <a:r>
              <a:rPr lang="ko-KR" altLang="en-US" sz="2000" dirty="0" err="1"/>
              <a:t>하이퍼파라미터</a:t>
            </a:r>
            <a:r>
              <a:rPr lang="ko-KR" altLang="en-US" sz="2000" dirty="0"/>
              <a:t> 조합으로 </a:t>
            </a:r>
            <a:r>
              <a:rPr lang="en-US" altLang="ko-KR" sz="2000" dirty="0"/>
              <a:t>Grid </a:t>
            </a:r>
            <a:r>
              <a:rPr lang="en-US" altLang="ko-KR" sz="2000" dirty="0" err="1"/>
              <a:t>searc</a:t>
            </a:r>
            <a:r>
              <a:rPr lang="ko-KR" altLang="en-US" sz="2000" dirty="0"/>
              <a:t>를 통해 </a:t>
            </a:r>
            <a:r>
              <a:rPr lang="en-US" altLang="ko-KR" sz="2000" dirty="0"/>
              <a:t>Sequential </a:t>
            </a:r>
            <a:r>
              <a:rPr lang="en-US" altLang="ko-KR" sz="2000" dirty="0" err="1"/>
              <a:t>Dqn</a:t>
            </a:r>
            <a:r>
              <a:rPr lang="ko-KR" altLang="en-US" sz="2000" dirty="0"/>
              <a:t>을 튜닝하였다</a:t>
            </a:r>
            <a:r>
              <a:rPr lang="en-US" altLang="ko-KR" sz="2000" dirty="0"/>
              <a:t>. </a:t>
            </a:r>
            <a:r>
              <a:rPr lang="ko-KR" altLang="en-US" sz="2000" dirty="0"/>
              <a:t>원래는 </a:t>
            </a:r>
            <a:r>
              <a:rPr lang="en-US" altLang="ko-KR" sz="2000" dirty="0"/>
              <a:t>12</a:t>
            </a:r>
            <a:r>
              <a:rPr lang="ko-KR" altLang="en-US" sz="2000" dirty="0"/>
              <a:t>개 조합으로 </a:t>
            </a:r>
            <a:r>
              <a:rPr lang="en-US" altLang="ko-KR" sz="2000" dirty="0" err="1"/>
              <a:t>hidden_dim</a:t>
            </a:r>
            <a:r>
              <a:rPr lang="en-US" altLang="ko-KR" sz="2000" dirty="0"/>
              <a:t> = {64, 128, 256}, </a:t>
            </a:r>
            <a:r>
              <a:rPr lang="en-US" altLang="ko-KR" sz="2000" dirty="0" err="1"/>
              <a:t>lstm_hidden</a:t>
            </a:r>
            <a:r>
              <a:rPr lang="en-US" altLang="ko-KR" sz="2000" dirty="0"/>
              <a:t> = {32, 64}, </a:t>
            </a:r>
            <a:r>
              <a:rPr lang="en-US" altLang="ko-KR" sz="2000" dirty="0" err="1"/>
              <a:t>learning_rate</a:t>
            </a:r>
            <a:r>
              <a:rPr lang="en-US" altLang="ko-KR" sz="2000" dirty="0"/>
              <a:t> = {0.001, 0.0005}</a:t>
            </a:r>
            <a:r>
              <a:rPr lang="ko-KR" altLang="en-US" sz="2000" dirty="0"/>
              <a:t>에서</a:t>
            </a:r>
            <a:r>
              <a:rPr lang="en-US" altLang="ko-KR" sz="2000" dirty="0"/>
              <a:t> </a:t>
            </a:r>
            <a:r>
              <a:rPr lang="en-US" altLang="ko-KR" sz="2000" dirty="0" err="1"/>
              <a:t>n_episode</a:t>
            </a:r>
            <a:r>
              <a:rPr lang="en-US" altLang="ko-KR" sz="2000" dirty="0"/>
              <a:t> = 300</a:t>
            </a:r>
            <a:r>
              <a:rPr lang="ko-KR" altLang="en-US" sz="2000" dirty="0"/>
              <a:t>이었지만</a:t>
            </a:r>
            <a:r>
              <a:rPr lang="en-US" altLang="ko-KR" sz="2000" dirty="0"/>
              <a:t>, </a:t>
            </a:r>
            <a:r>
              <a:rPr lang="ko-KR" altLang="en-US" sz="2000" dirty="0"/>
              <a:t>수행 시간이 너무 오래 걸려 </a:t>
            </a:r>
            <a:r>
              <a:rPr lang="en-US" altLang="ko-KR" sz="2000" dirty="0"/>
              <a:t>{32, 64}, {16, 32}, {0.001, 0.0005}</a:t>
            </a:r>
            <a:r>
              <a:rPr lang="ko-KR" altLang="en-US" sz="2000" dirty="0"/>
              <a:t>에서 </a:t>
            </a:r>
            <a:r>
              <a:rPr lang="en-US" altLang="ko-KR" sz="2000" dirty="0" err="1"/>
              <a:t>n_episode</a:t>
            </a:r>
            <a:r>
              <a:rPr lang="en-US" altLang="ko-KR" sz="2000" dirty="0"/>
              <a:t> = 100</a:t>
            </a:r>
            <a:r>
              <a:rPr lang="ko-KR" altLang="en-US" sz="2000" dirty="0"/>
              <a:t>으로 낮게 설정해 튜닝하였다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636472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B46F01-22D4-1E86-001F-25C53EB3C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다중 </a:t>
            </a:r>
            <a:r>
              <a:rPr lang="ko-KR" altLang="en-US" dirty="0" err="1"/>
              <a:t>시드</a:t>
            </a:r>
            <a:r>
              <a:rPr lang="ko-KR" altLang="en-US" dirty="0"/>
              <a:t> 실험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70EB6F-A3FD-464B-7E72-E20683F10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000" dirty="0"/>
              <a:t>본 프로젝트에서는 결과의 통계적 신뢰성을 확보하기 위해 랜덤 </a:t>
            </a:r>
            <a:r>
              <a:rPr lang="ko-KR" altLang="en-US" sz="2000" dirty="0" err="1"/>
              <a:t>시드</a:t>
            </a:r>
            <a:r>
              <a:rPr lang="ko-KR" altLang="en-US" sz="2000" dirty="0"/>
              <a:t> </a:t>
            </a:r>
            <a:r>
              <a:rPr lang="en-US" altLang="ko-KR" sz="2000" dirty="0"/>
              <a:t>{42, 123, 456, 789, 1024}</a:t>
            </a:r>
            <a:r>
              <a:rPr lang="ko-KR" altLang="en-US" sz="2000" dirty="0"/>
              <a:t>에서 실험을 반복하였다</a:t>
            </a:r>
            <a:r>
              <a:rPr lang="en-US" altLang="ko-KR" sz="2000" dirty="0"/>
              <a:t>. </a:t>
            </a:r>
            <a:r>
              <a:rPr lang="ko-KR" altLang="en-US" sz="2000" dirty="0"/>
              <a:t>각 </a:t>
            </a:r>
            <a:r>
              <a:rPr lang="ko-KR" altLang="en-US" sz="2000" dirty="0" err="1"/>
              <a:t>시드에서</a:t>
            </a:r>
            <a:r>
              <a:rPr lang="ko-KR" altLang="en-US" sz="2000" dirty="0"/>
              <a:t> 데이터 분할</a:t>
            </a:r>
            <a:r>
              <a:rPr lang="en-US" altLang="ko-KR" sz="2000" dirty="0"/>
              <a:t>, </a:t>
            </a:r>
            <a:r>
              <a:rPr lang="ko-KR" altLang="en-US" sz="2000" dirty="0"/>
              <a:t>모델 초기화</a:t>
            </a:r>
            <a:r>
              <a:rPr lang="en-US" altLang="ko-KR" sz="2000" dirty="0"/>
              <a:t>, </a:t>
            </a:r>
            <a:r>
              <a:rPr lang="ko-KR" altLang="en-US" sz="2000" dirty="0"/>
              <a:t>학습 과정이 독립적으로 수행되었다</a:t>
            </a:r>
            <a:r>
              <a:rPr lang="en-US" altLang="ko-KR" sz="2000" dirty="0"/>
              <a:t>. </a:t>
            </a:r>
            <a:r>
              <a:rPr lang="ko-KR" altLang="en-US" sz="2000" dirty="0"/>
              <a:t>최종 결과는 </a:t>
            </a:r>
            <a:r>
              <a:rPr lang="en-US" altLang="ko-KR" sz="2000" dirty="0"/>
              <a:t>5</a:t>
            </a:r>
            <a:r>
              <a:rPr lang="ko-KR" altLang="en-US" sz="2000" dirty="0"/>
              <a:t>개 </a:t>
            </a:r>
            <a:r>
              <a:rPr lang="ko-KR" altLang="en-US" sz="2000" dirty="0" err="1"/>
              <a:t>시드의</a:t>
            </a:r>
            <a:r>
              <a:rPr lang="ko-KR" altLang="en-US" sz="2000" dirty="0"/>
              <a:t> 평균과 </a:t>
            </a:r>
            <a:r>
              <a:rPr lang="en-US" altLang="ko-KR" sz="2000" dirty="0"/>
              <a:t>95% </a:t>
            </a:r>
            <a:r>
              <a:rPr lang="ko-KR" altLang="en-US" sz="2000" dirty="0"/>
              <a:t>신뢰구간을 출력한다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알고리즘 간 성능 차이의 유의성을 검증하기 위해서는 </a:t>
            </a:r>
            <a:r>
              <a:rPr lang="en-US" altLang="ko-KR" sz="2000" dirty="0"/>
              <a:t>Paired t-test</a:t>
            </a:r>
            <a:r>
              <a:rPr lang="ko-KR" altLang="en-US" sz="2000" dirty="0"/>
              <a:t>를 수행하였다</a:t>
            </a:r>
            <a:r>
              <a:rPr lang="en-US" altLang="ko-KR" sz="2000" dirty="0"/>
              <a:t>. </a:t>
            </a:r>
            <a:r>
              <a:rPr lang="ko-KR" altLang="en-US" sz="2000" dirty="0"/>
              <a:t>두 알고리즘의 </a:t>
            </a:r>
            <a:r>
              <a:rPr lang="en-US" altLang="ko-KR" sz="2000" dirty="0"/>
              <a:t>NDC</a:t>
            </a:r>
            <a:r>
              <a:rPr lang="ko-KR" altLang="en-US" sz="2000" dirty="0"/>
              <a:t>의 평균 차이가 </a:t>
            </a:r>
            <a:r>
              <a:rPr lang="ko-KR" altLang="en-US" sz="2000" dirty="0" err="1"/>
              <a:t>없다를</a:t>
            </a:r>
            <a:r>
              <a:rPr lang="ko-KR" altLang="en-US" sz="2000" dirty="0"/>
              <a:t> 가정하고 수행하였으며 유의수준 </a:t>
            </a:r>
            <a:r>
              <a:rPr lang="en-US" altLang="ko-KR" sz="2000" dirty="0"/>
              <a:t>a = 0.01</a:t>
            </a:r>
            <a:r>
              <a:rPr lang="ko-KR" altLang="en-US" sz="2000" dirty="0"/>
              <a:t>로 검정하였다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54588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B5CAD1-127F-BF6F-07DC-3A3418C1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734711"/>
          </a:xfrm>
        </p:spPr>
        <p:txBody>
          <a:bodyPr/>
          <a:lstStyle/>
          <a:p>
            <a:r>
              <a:rPr lang="ko-KR" altLang="en-US" dirty="0"/>
              <a:t>실험 결과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889DF4-290D-9263-A59F-57C5E4AA0B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58200" y="1342103"/>
            <a:ext cx="3161963" cy="4908505"/>
          </a:xfrm>
        </p:spPr>
        <p:txBody>
          <a:bodyPr>
            <a:normAutofit fontScale="92500"/>
          </a:bodyPr>
          <a:lstStyle/>
          <a:p>
            <a:r>
              <a:rPr lang="en-US" altLang="ko-KR" sz="1500" dirty="0"/>
              <a:t>E-greedy</a:t>
            </a:r>
            <a:r>
              <a:rPr lang="ko-KR" altLang="en-US" sz="1500" dirty="0"/>
              <a:t> 튜닝에서는 </a:t>
            </a:r>
            <a:r>
              <a:rPr lang="en-US" altLang="ko-KR" sz="1500" dirty="0"/>
              <a:t>0.1</a:t>
            </a:r>
            <a:r>
              <a:rPr lang="ko-KR" altLang="en-US" sz="1500" dirty="0"/>
              <a:t>이 가장 좋은 성능을 보였다</a:t>
            </a:r>
            <a:r>
              <a:rPr lang="en-US" altLang="ko-KR" sz="1500" dirty="0"/>
              <a:t>.</a:t>
            </a:r>
          </a:p>
          <a:p>
            <a:r>
              <a:rPr lang="en-US" altLang="ko-KR" sz="1500" dirty="0"/>
              <a:t>DQN </a:t>
            </a:r>
            <a:r>
              <a:rPr lang="ko-KR" altLang="en-US" sz="1500" dirty="0"/>
              <a:t>튜닝에서 </a:t>
            </a:r>
            <a:r>
              <a:rPr lang="en-US" altLang="ko-KR" sz="1500" dirty="0" err="1"/>
              <a:t>learning_rate</a:t>
            </a:r>
            <a:r>
              <a:rPr lang="ko-KR" altLang="en-US" sz="1500" dirty="0"/>
              <a:t>가 큰 경우 과적합이 발생하였다</a:t>
            </a:r>
            <a:r>
              <a:rPr lang="en-US" altLang="ko-KR" sz="1500" dirty="0"/>
              <a:t>. </a:t>
            </a:r>
            <a:r>
              <a:rPr lang="en-US" altLang="ko-KR" sz="1500" dirty="0" err="1"/>
              <a:t>Lstm_hidde</a:t>
            </a:r>
            <a:r>
              <a:rPr lang="ko-KR" altLang="en-US" sz="1500" dirty="0"/>
              <a:t>의 증가는 안정적인 학습을 보였지만 복잡한 시퀀스를 가지게 해 성능을 저하시켰다</a:t>
            </a:r>
            <a:r>
              <a:rPr lang="en-US" altLang="ko-KR" sz="1500" dirty="0"/>
              <a:t>., </a:t>
            </a:r>
            <a:r>
              <a:rPr lang="en-US" altLang="ko-KR" sz="1500" dirty="0" err="1"/>
              <a:t>hidden_dim</a:t>
            </a:r>
            <a:r>
              <a:rPr lang="ko-KR" altLang="en-US" sz="1500" dirty="0"/>
              <a:t>의 증가는 오히려 성능을 저하시켰다</a:t>
            </a:r>
            <a:r>
              <a:rPr lang="en-US" altLang="ko-KR" sz="1500" dirty="0"/>
              <a:t>. </a:t>
            </a:r>
            <a:r>
              <a:rPr lang="ko-KR" altLang="en-US" sz="1500" dirty="0"/>
              <a:t>오히려 </a:t>
            </a:r>
            <a:r>
              <a:rPr lang="ko-KR" altLang="en-US" sz="1500" dirty="0" err="1"/>
              <a:t>과적합</a:t>
            </a:r>
            <a:r>
              <a:rPr lang="ko-KR" altLang="en-US" sz="1500" dirty="0"/>
              <a:t> 위험 증가와 학습 </a:t>
            </a:r>
            <a:r>
              <a:rPr lang="en-US" altLang="ko-KR" sz="1500" dirty="0"/>
              <a:t>collapse</a:t>
            </a:r>
            <a:r>
              <a:rPr lang="ko-KR" altLang="en-US" sz="1500" dirty="0"/>
              <a:t>를 만들었다</a:t>
            </a:r>
            <a:r>
              <a:rPr lang="en-US" altLang="ko-KR" sz="1500" dirty="0"/>
              <a:t>.</a:t>
            </a:r>
          </a:p>
          <a:p>
            <a:r>
              <a:rPr lang="en-US" altLang="ko-KR" sz="1500" dirty="0"/>
              <a:t>E-greedy</a:t>
            </a:r>
            <a:r>
              <a:rPr lang="ko-KR" altLang="en-US" sz="1500" dirty="0"/>
              <a:t>가 전반적인 지표에서 가장 뛰어났다</a:t>
            </a:r>
            <a:r>
              <a:rPr lang="en-US" altLang="ko-KR" sz="1500" dirty="0"/>
              <a:t>. Sequential-DQN</a:t>
            </a:r>
            <a:r>
              <a:rPr lang="ko-KR" altLang="en-US" sz="1500" dirty="0"/>
              <a:t>은 </a:t>
            </a:r>
            <a:r>
              <a:rPr lang="en-US" altLang="ko-KR" sz="1500" dirty="0"/>
              <a:t>Recall</a:t>
            </a:r>
            <a:r>
              <a:rPr lang="ko-KR" altLang="en-US" sz="1500" dirty="0"/>
              <a:t>에서는 가장 뛰어났지만</a:t>
            </a:r>
            <a:r>
              <a:rPr lang="en-US" altLang="ko-KR" sz="1500" dirty="0"/>
              <a:t>, NDC</a:t>
            </a:r>
            <a:r>
              <a:rPr lang="ko-KR" altLang="en-US" sz="1500" dirty="0"/>
              <a:t>가 낮았다</a:t>
            </a:r>
            <a:r>
              <a:rPr lang="en-US" altLang="ko-KR" sz="1500" dirty="0"/>
              <a:t>. Policy</a:t>
            </a:r>
            <a:r>
              <a:rPr lang="ko-KR" altLang="en-US" sz="1500" dirty="0"/>
              <a:t>가 학습 범위나 데이터가 적어 수렴하지 않아 발생한 것으로 추측</a:t>
            </a:r>
            <a:r>
              <a:rPr lang="en-US" altLang="ko-KR" sz="1500" dirty="0"/>
              <a:t>.</a:t>
            </a:r>
          </a:p>
          <a:p>
            <a:r>
              <a:rPr lang="en-US" altLang="ko-KR" sz="1500" dirty="0"/>
              <a:t>Thompson Sampling</a:t>
            </a:r>
            <a:r>
              <a:rPr lang="ko-KR" altLang="en-US" sz="1500" dirty="0"/>
              <a:t>은 베타 분포 탐색이 불리했을 것으로 추측</a:t>
            </a:r>
            <a:r>
              <a:rPr lang="en-US" altLang="ko-KR" sz="1500" dirty="0"/>
              <a:t>. </a:t>
            </a:r>
            <a:r>
              <a:rPr lang="ko-KR" altLang="en-US" sz="1500" dirty="0"/>
              <a:t>데이터 특성이 </a:t>
            </a:r>
            <a:r>
              <a:rPr lang="en-US" altLang="ko-KR" sz="1500" dirty="0"/>
              <a:t>like</a:t>
            </a:r>
            <a:r>
              <a:rPr lang="ko-KR" altLang="en-US" sz="1500" dirty="0"/>
              <a:t>의 분포가 치우쳐져 있어 비효율적인 것 같다</a:t>
            </a:r>
            <a:r>
              <a:rPr lang="en-US" altLang="ko-KR" sz="1500" dirty="0"/>
              <a:t>.</a:t>
            </a:r>
            <a:endParaRPr lang="ko-KR" altLang="en-US" sz="15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C20CE99-0A4E-C626-A26A-37E62E279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79" y="212547"/>
            <a:ext cx="2003339" cy="161625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72A58B8-D6E2-3922-47DA-1D9CB68BCF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318" y="212547"/>
            <a:ext cx="5897171" cy="228391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CA25A1A-03D5-0D05-6828-112AFB45A6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120" y="2439738"/>
            <a:ext cx="2644369" cy="62489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E16D543-5347-1C12-BFC5-7C83A0BB7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217" y="2840395"/>
            <a:ext cx="4800283" cy="191191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38FC75E-66C5-F0B5-21E9-A9B748E1F7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072" y="5262348"/>
            <a:ext cx="3604572" cy="104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895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0A5131-03FB-7AF2-04E7-6AA367808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발견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43E3E2-F817-D880-832E-B4162562D1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Sequential DQN</a:t>
            </a:r>
            <a:r>
              <a:rPr lang="ko-KR" altLang="en-US" dirty="0"/>
              <a:t>이 괜찮은 성능을 보인 것은 시청 기록에 시간적 패턴이 존재하며 이를 포착하는 기능 때문이다</a:t>
            </a:r>
            <a:r>
              <a:rPr lang="en-US" altLang="ko-KR" dirty="0"/>
              <a:t>. E-greedy </a:t>
            </a:r>
            <a:r>
              <a:rPr lang="ko-KR" altLang="en-US" dirty="0"/>
              <a:t>보다 떨어지는 성능은 소량의 학습밖에 하지 못해서라고 추측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E-greedy</a:t>
            </a:r>
            <a:r>
              <a:rPr lang="ko-KR" altLang="en-US" dirty="0"/>
              <a:t>에서 적절한 </a:t>
            </a:r>
            <a:r>
              <a:rPr lang="ko-KR" altLang="en-US" dirty="0" err="1"/>
              <a:t>탐험률</a:t>
            </a:r>
            <a:r>
              <a:rPr lang="ko-KR" altLang="en-US" dirty="0"/>
              <a:t> 조정이 성능에 중요함을 확인하였다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DQN </a:t>
            </a:r>
            <a:r>
              <a:rPr lang="ko-KR" altLang="en-US" dirty="0"/>
              <a:t>튜닝에서 오히려 작은 크기의 네트워크가 좋은 효과를 보였다</a:t>
            </a:r>
            <a:r>
              <a:rPr lang="en-US" altLang="ko-KR" dirty="0"/>
              <a:t>. </a:t>
            </a:r>
            <a:r>
              <a:rPr lang="ko-KR" altLang="en-US" dirty="0"/>
              <a:t>파라미터 후보의 크기가 전부 작은 탓인지는 모르지만</a:t>
            </a:r>
            <a:r>
              <a:rPr lang="en-US" altLang="ko-KR" dirty="0"/>
              <a:t>, </a:t>
            </a:r>
            <a:r>
              <a:rPr lang="ko-KR" altLang="en-US" dirty="0"/>
              <a:t>해당 후보들 중에서는 작은 크기의 네트워크가 좋은 성능을 보였다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B74A50-9FBF-1C67-DD5B-DF427745FBC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한계점은 다음과 같다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 온라인 테스트를 진행할 수 없었으며</a:t>
            </a:r>
            <a:r>
              <a:rPr lang="en-US" altLang="ko-KR" dirty="0"/>
              <a:t>, </a:t>
            </a:r>
            <a:r>
              <a:rPr lang="ko-KR" altLang="en-US" dirty="0"/>
              <a:t>데이터셋 규모가 약 </a:t>
            </a:r>
            <a:r>
              <a:rPr lang="en-US" altLang="ko-KR" dirty="0"/>
              <a:t>10</a:t>
            </a:r>
            <a:r>
              <a:rPr lang="ko-KR" altLang="en-US" dirty="0"/>
              <a:t>만 개 정도로 대규모 데이터셋을 사용하지 못했다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Reward </a:t>
            </a:r>
            <a:r>
              <a:rPr lang="ko-KR" altLang="en-US" dirty="0"/>
              <a:t>설계에서 이진 보상을 사용하여 연속적 평점이나 장기적 사용자 만족도를 고려하지 않았다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Sequential-DQN </a:t>
            </a:r>
            <a:r>
              <a:rPr lang="ko-KR" altLang="en-US" dirty="0"/>
              <a:t>튜닝에서 다양한 파라미터 조합을 사용해보지 못해 알고리즘 간 정확한 비교가 불가하였다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468340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FIVE">
      <a:dk1>
        <a:sysClr val="windowText" lastClr="000000"/>
      </a:dk1>
      <a:lt1>
        <a:sysClr val="window" lastClr="FFFFFF"/>
      </a:lt1>
      <a:dk2>
        <a:srgbClr val="505046"/>
      </a:dk2>
      <a:lt2>
        <a:srgbClr val="F5F6F4"/>
      </a:lt2>
      <a:accent1>
        <a:srgbClr val="57903F"/>
      </a:accent1>
      <a:accent2>
        <a:srgbClr val="F03F2B"/>
      </a:accent2>
      <a:accent3>
        <a:srgbClr val="3488A0"/>
      </a:accent3>
      <a:accent4>
        <a:srgbClr val="F8D22F"/>
      </a:accent4>
      <a:accent5>
        <a:srgbClr val="5CC6D6"/>
      </a:accent5>
      <a:accent6>
        <a:srgbClr val="B8D233"/>
      </a:accent6>
      <a:hlink>
        <a:srgbClr val="00B0F0"/>
      </a:hlink>
      <a:folHlink>
        <a:srgbClr val="B2B2B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84_TF78438558" id="{3CB50A5E-A4A2-4D8C-92BF-ECB022D5D39A}" vid="{3F4CD028-47E6-4463-B06D-5EDDC9C0696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{35953327-E419-47E1-972D-57C0190E223A}TF8a9b5915-b8c7-461e-8cdd-693d48b5e323fdde8251_win32-0f67f964ddf4</Template>
  <TotalTime>313</TotalTime>
  <Words>1226</Words>
  <Application>Microsoft Office PowerPoint</Application>
  <PresentationFormat>와이드스크린</PresentationFormat>
  <Paragraphs>63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맑은 고딕</vt:lpstr>
      <vt:lpstr>Arial</vt:lpstr>
      <vt:lpstr>Calibri</vt:lpstr>
      <vt:lpstr>Garamond</vt:lpstr>
      <vt:lpstr>SavonVTI</vt:lpstr>
      <vt:lpstr>강화학습개론 프로젝트 보고서</vt:lpstr>
      <vt:lpstr>목차</vt:lpstr>
      <vt:lpstr>프로젝트 소개</vt:lpstr>
      <vt:lpstr>연구 배경</vt:lpstr>
      <vt:lpstr>연구 목표</vt:lpstr>
      <vt:lpstr>알고리즘 기반 추천</vt:lpstr>
      <vt:lpstr>데이터셋</vt:lpstr>
      <vt:lpstr>State, Aciton, Reward 설계</vt:lpstr>
      <vt:lpstr>실험 설정</vt:lpstr>
      <vt:lpstr>하이퍼파라미터</vt:lpstr>
      <vt:lpstr>다중 시드 실험</vt:lpstr>
      <vt:lpstr>실험 결과</vt:lpstr>
      <vt:lpstr>주요 발견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강화학습개론 프로젝트 보고서</dc:title>
  <dc:creator>목월 박</dc:creator>
  <cp:lastModifiedBy>목월 박</cp:lastModifiedBy>
  <cp:revision>1</cp:revision>
  <dcterms:created xsi:type="dcterms:W3CDTF">2025-12-07T06:15:36Z</dcterms:created>
  <dcterms:modified xsi:type="dcterms:W3CDTF">2025-12-07T14:20:30Z</dcterms:modified>
</cp:coreProperties>
</file>